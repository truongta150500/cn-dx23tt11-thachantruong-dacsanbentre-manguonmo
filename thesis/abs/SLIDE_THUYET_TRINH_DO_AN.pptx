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đánh giá và toàn thể các bạn sinh viên.</a:t>
            </a:r>
          </a:p>
          <a:p>
            <a:r>
              <a:t>Em tên là Thạch An Trường, sinh viên lớp Chuyên ngành thuộc Khoa Kỹ thuật và Công nghệ, Trường Đại học Trà Vinh, MSSV: 170123678.</a:t>
            </a:r>
          </a:p>
          <a:p>
            <a:r>
              <a:t>Hôm nay, em xin được phép báo cáo bảo vệ Đồ án chuyên đề với đề tài: 'Xây dựng Website bán thực phẩm chế biến đặc sản Bến Tre trên máy chủ mã nguồn mở LAMP và WordPress, ứng dụng mô hình Bách Hóa Xanh và quy trình sao lưu phục hồi thảm họa qua Xshell, Xftp'.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của em bao gồm 8 phần nội dung chính được sắp xếp logic từ lý thuyết kiến trúc, hiện thực hóa hệ thống, minh họa giao diện thực tế đến giải pháp sao lưu phục hồi thảm họa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phần đặt vấn đề, em tập trung giải quyết 3 bài toán lớn: Thứ nhất là mang các sản phẩm OCOP chế biến đặc sản Bến Tre lên môi trường mạng; Thứ hai là áp dụng phong cách thiết kế Bách Hóa Xanh quen thuộc giúp khách hàng đặt hàng nhanh nhất; Thứ ba là bảo vệ an toàn cơ sở dữ liệu bằng quy trình sao lưu và phục hồi thảm họa.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LAMP Stack được thiết lập trên máy ảo VirtualBox kết nối NAT Port Forwarding: Cổng 8080 trỏ về cổng 80 của Apache để duyệt Web, và Cổng 2222 trỏ về cổng 22 của OpenSSH để điều khiển từ xa.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WordPress kết hợp cùng WooCommerce là giải pháp mã nguồn mở tối ưu nhất cho doanh nghiệp vừa và nhỏ tại Việt Nam: Không tốn chi phí bản quyền định kỳ, dễ dàng tùy biến giao diện và tương thích tuyệt đối với các phương thức thanh toán nội địa.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sở dữ liệu của đồ án không dùng dữ liệu rác mà được chuẩn hóa thực tế với 15 mặt hàng thực phẩm chế biến nổi tiếng của tỉnh Bến Tre, chia thành 4 nhóm ngành hàng rõ ràng và có đầy đủ chứng nhận OCOP làng nghề.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chủ được thiết kế theo đúng nhận diện chuỗi Bách Hóa Xanh với tông màu xanh lá chủ đạo, thanh tìm kiếm nhanh, nút giỏ hàng nổi bật và khối Flash Sale kích thích khách hàng mua sắm.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Cửa hàng hiển thị danh sách toàn bộ 15 sản phẩm với bộ lọc giá linh hoạt. Từng món ăn đều có đóng dấu tem OCOP đảm bảo nguồn gốc làng nghề truyền thống Bến 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chi tiết sản phẩm cung cấp đầy đủ thông tin xuất xứ, hạn bảo quản và cam kết an toàn thực phẩm, giúp khách hàng hoàn toàn an tâm khi đưa ra quyết định mua sắm.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Giỏ hàng được thiết kế rõ ràng, cập nhật tiền tự động và hỗ trợ mã giảm giá coupon, giúp người mua dễ dàng kiểm tra đơn hàng trước khi thanh toán.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mẫu thanh toán hỗ trợ hình thức COD nhận hàng trả tiền mặt, đây là phương thức được hơn 80% người mua nông sản online tại Việt Nam lựa chọn.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Dashboard quản trị tập trung toàn bộ công cụ quản lý máy chủ và website, cho phép người quản trị kiểm soát doanh thu, thêm sản phẩm và cấu hình hệ thống một cách trực quan.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quản trị sản phẩm cho phép người quản lý dễ dàng điều chỉnh giá bán khuyến mãi, cập nhật số lượng tồn kho và bổ sung thêm các mặt hàng đặc sản mới một cách nhanh chóng.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quản trị đơn hàng giúp nhân viên bán hàng nắm bắt ngay lập tức các đơn hàng mới, từ đó tiến hành gọi điện xác nhận và đóng gói giao hàng đúng hạn.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màn hình Xshell, Quý Thầy Cô có thể thấy kịch bản backup.sh và restore.sh thực thi tuần tự, thông báo kết quả chi tiết từng bước và phục hồi website thành công chỉ trong vòng 15 giây.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cụ Xftp cho phép người quản trị kéo thả các bản sao lưu từ Linux về máy tính Windows để lưu trữ ngoại vi an toàn, đảm bảo nếu máy chủ gặp thảm họa vẫn khôi phục lại nguyên vẹn.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 quá trình thử nghiệm thực tế, tất cả 6 mục tiêu kỹ thuật đề ra ban đầu của đồ án đều đã được hoàn thành 100%, hệ thống vận hành trơn tru và sẵn sàng chuyển giao.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giai đoạn tiếp theo, hệ thống hoàn toàn có thể mở rộng tích hợp ví điện tử MoMo/VNPay, triển khai ứng dụng di động Flutter và đóng gói Docker để đưa lên môi trường Internet phục vụ kinh doanh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đồ án không chỉ giúp em hoàn thành mục tiêu học tập của chuyên đề mã nguồn mở mà còn mang lại một sản phẩm có tính ứng dụng kinh tế xã hội thực tiễn rất cao cho quê hương Bến Tre.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Quý Thầy Cô trong Hội đồng đã dành thời gian quý báu lắng nghe bài báo cáo của em. Em rất mong nhận được những nhận xét, đóng góp ý kiến và câu hỏi từ Quý Thầy Cô để đồ án được hoàn thiện tốt hơn nữa. Em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91695" cy="137160"/>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640080"/>
            <a:ext cx="10362895" cy="5394960"/>
          </a:xfrm>
          <a:prstGeom prst="roundRect">
            <a:avLst/>
          </a:prstGeom>
          <a:solidFill>
            <a:srgbClr val="FFFFFF"/>
          </a:solidFill>
          <a:ln w="31750">
            <a:solidFill>
              <a:srgbClr val="FCD53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822960"/>
            <a:ext cx="9631375" cy="5029200"/>
          </a:xfrm>
          <a:prstGeom prst="rect">
            <a:avLst/>
          </a:prstGeom>
          <a:noFill/>
        </p:spPr>
        <p:txBody>
          <a:bodyPr wrap="square">
            <a:spAutoFit/>
          </a:bodyPr>
          <a:lstStyle/>
          <a:p>
            <a:pPr algn="ctr">
              <a:defRPr sz="1300" b="1">
                <a:solidFill>
                  <a:srgbClr val="64748B"/>
                </a:solidFill>
              </a:defRPr>
            </a:pPr>
            <a:r>
              <a:t>TRƯỜNG ĐẠI HỌC TRÀ VINH  •  KHOA KỸ THUẬT VÀ CÔNG NGHỆ</a:t>
            </a:r>
          </a:p>
          <a:p>
            <a:pPr algn="ctr">
              <a:spcBef>
                <a:spcPts val="800"/>
              </a:spcBef>
              <a:defRPr sz="1500" b="1">
                <a:solidFill>
                  <a:srgbClr val="EA1E25"/>
                </a:solidFill>
              </a:defRPr>
            </a:pPr>
            <a:r>
              <a:t>BÁO CÁO ĐỒ ÁN CHUYÊN ĐỀ PHẦN MỀM MÃ NGUỒN MỞ</a:t>
            </a:r>
          </a:p>
          <a:p>
            <a:pPr algn="ctr">
              <a:spcBef>
                <a:spcPts val="1000"/>
              </a:spcBef>
              <a:defRPr sz="2300" b="1">
                <a:solidFill>
                  <a:srgbClr val="005C30"/>
                </a:solidFill>
              </a:defRPr>
            </a:pPr>
            <a:r>
              <a:t>XÂY DỰNG WEBSITE BÁN THỰC PHẨM CHẾ BIẾN ĐẶC SẢN BẾN TRE</a:t>
            </a:r>
            <a:br/>
            <a:r>
              <a:t>TRÊN MÁY CHỦ MÃ NGUỒN MỞ LAMP VÀ WORDPRESS</a:t>
            </a:r>
          </a:p>
          <a:p>
            <a:pPr algn="ctr">
              <a:spcBef>
                <a:spcPts val="800"/>
              </a:spcBef>
              <a:defRPr sz="1300" i="1" b="1">
                <a:solidFill>
                  <a:srgbClr val="008848"/>
                </a:solidFill>
              </a:defRPr>
            </a:pPr>
            <a:r>
              <a:t>Ứng Dụng Nhận Diện Chuỗi Siêu Thị Bách Hóa Xanh  •  Tự Động Hóa Sao Lưu &amp; Phục Hồi Qua Xshell &amp; Xftp</a:t>
            </a:r>
          </a:p>
          <a:p>
            <a:pPr algn="ctr">
              <a:defRPr sz="1000">
                <a:solidFill>
                  <a:srgbClr val="CBD5E1"/>
                </a:solidFill>
              </a:defRPr>
            </a:pPr>
            <a:r>
              <a:t>__________________________________________________________________________</a:t>
            </a:r>
          </a:p>
          <a:p>
            <a:pPr algn="ctr">
              <a:spcBef>
                <a:spcPts val="1400"/>
              </a:spcBef>
              <a:defRPr sz="1400" b="1">
                <a:solidFill>
                  <a:srgbClr val="1E293B"/>
                </a:solidFill>
              </a:defRPr>
            </a:pPr>
            <a:r>
              <a:t>Sinh viên thực hiện: THẠCH AN TRƯỜNG     |     Mã số sinh viên (MSSV): 170123678</a:t>
            </a:r>
          </a:p>
          <a:p>
            <a:pPr algn="ctr">
              <a:spcBef>
                <a:spcPts val="400"/>
              </a:spcBef>
              <a:defRPr sz="1200" b="1">
                <a:solidFill>
                  <a:srgbClr val="64748B"/>
                </a:solidFill>
              </a:defRPr>
            </a:pPr>
            <a:r>
              <a:t>Giảng viên hướng dẫn: ThS. NGUYỄN HOÀNG DUY THIỆN  (Email: thiennhd@tvu.edu.vn)</a:t>
            </a:r>
            <a:br/>
            <a:r>
              <a:t>Số điện thoại: 0329886903  •  Email: truongta150500@sv-onuni.edu.vn</a:t>
            </a:r>
          </a:p>
          <a:p>
            <a:pPr algn="ctr">
              <a:spcBef>
                <a:spcPts val="1000"/>
              </a:spcBef>
              <a:defRPr sz="1100" b="1">
                <a:solidFill>
                  <a:srgbClr val="005C30"/>
                </a:solidFill>
              </a:defRPr>
            </a:pPr>
            <a:r>
              <a:t>Nền tảng: Linux Ubuntu 22.04 LTS  •  Apache 2.4  •  MySQL 8.0  •  PHP 8.1  •  WooCommerce 9.8.5</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KHOA KỸ THUẬT VÀ CÔNG NGHỆ • TRƯỜNG ĐẠI HỌC TRÀ VINH</a:t>
            </a:r>
          </a:p>
          <a:p>
            <a:pPr>
              <a:spcBef>
                <a:spcPts val="200"/>
              </a:spcBef>
              <a:defRPr sz="2000" b="1">
                <a:solidFill>
                  <a:srgbClr val="FFFFFF"/>
                </a:solidFill>
              </a:defRPr>
            </a:pPr>
            <a:r>
              <a:t>CẤU TRÚC NỘI DUNG BÁO CÁO (AGENDA)</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2 / 20</a:t>
            </a:r>
          </a:p>
        </p:txBody>
      </p:sp>
      <p:sp>
        <p:nvSpPr>
          <p:cNvPr id="10" name="Rounded Rectangle 9"/>
          <p:cNvSpPr/>
          <p:nvPr/>
        </p:nvSpPr>
        <p:spPr>
          <a:xfrm>
            <a:off x="731520" y="1371600"/>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1554480"/>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01</a:t>
            </a:r>
          </a:p>
        </p:txBody>
      </p:sp>
      <p:sp>
        <p:nvSpPr>
          <p:cNvPr id="12" name="TextBox 11"/>
          <p:cNvSpPr txBox="1"/>
          <p:nvPr/>
        </p:nvSpPr>
        <p:spPr>
          <a:xfrm>
            <a:off x="1691640" y="1508760"/>
            <a:ext cx="4160520" cy="804672"/>
          </a:xfrm>
          <a:prstGeom prst="rect">
            <a:avLst/>
          </a:prstGeom>
          <a:noFill/>
        </p:spPr>
        <p:txBody>
          <a:bodyPr wrap="square" lIns="0" tIns="0" rIns="0" bIns="0">
            <a:spAutoFit/>
          </a:bodyPr>
          <a:lstStyle/>
          <a:p>
            <a:pPr>
              <a:defRPr sz="1250" b="1">
                <a:solidFill>
                  <a:srgbClr val="1E293B"/>
                </a:solidFill>
              </a:defRPr>
            </a:pPr>
            <a:r>
              <a:t>Lý do chọn đề tài &amp; Mục tiêu nghiên cứu</a:t>
            </a:r>
          </a:p>
          <a:p>
            <a:pPr>
              <a:spcBef>
                <a:spcPts val="300"/>
              </a:spcBef>
              <a:defRPr sz="1050">
                <a:solidFill>
                  <a:srgbClr val="64748B"/>
                </a:solidFill>
              </a:defRPr>
            </a:pPr>
            <a:r>
              <a:t>Thúc đẩy đặc sản Bến Tre, chi phí bản quyền 0đ, an toàn dữ liệu.</a:t>
            </a:r>
          </a:p>
        </p:txBody>
      </p:sp>
      <p:sp>
        <p:nvSpPr>
          <p:cNvPr id="13" name="Rounded Rectangle 12"/>
          <p:cNvSpPr/>
          <p:nvPr/>
        </p:nvSpPr>
        <p:spPr>
          <a:xfrm>
            <a:off x="6172200" y="1371600"/>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0" y="1554480"/>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02</a:t>
            </a:r>
          </a:p>
        </p:txBody>
      </p:sp>
      <p:sp>
        <p:nvSpPr>
          <p:cNvPr id="15" name="TextBox 14"/>
          <p:cNvSpPr txBox="1"/>
          <p:nvPr/>
        </p:nvSpPr>
        <p:spPr>
          <a:xfrm>
            <a:off x="7132320" y="1508760"/>
            <a:ext cx="4160520" cy="804672"/>
          </a:xfrm>
          <a:prstGeom prst="rect">
            <a:avLst/>
          </a:prstGeom>
          <a:noFill/>
        </p:spPr>
        <p:txBody>
          <a:bodyPr wrap="square" lIns="0" tIns="0" rIns="0" bIns="0">
            <a:spAutoFit/>
          </a:bodyPr>
          <a:lstStyle/>
          <a:p>
            <a:pPr>
              <a:defRPr sz="1250" b="1">
                <a:solidFill>
                  <a:srgbClr val="1E293B"/>
                </a:solidFill>
              </a:defRPr>
            </a:pPr>
            <a:r>
              <a:t>Kiến trúc hạ tầng máy chủ LAMP Stack</a:t>
            </a:r>
          </a:p>
          <a:p>
            <a:pPr>
              <a:spcBef>
                <a:spcPts val="300"/>
              </a:spcBef>
              <a:defRPr sz="1050">
                <a:solidFill>
                  <a:srgbClr val="64748B"/>
                </a:solidFill>
              </a:defRPr>
            </a:pPr>
            <a:r>
              <a:t>Phân tích 4 thành phần Linux Ubuntu, Apache, MySQL, PHP.</a:t>
            </a:r>
          </a:p>
        </p:txBody>
      </p:sp>
      <p:sp>
        <p:nvSpPr>
          <p:cNvPr id="16" name="Rounded Rectangle 15"/>
          <p:cNvSpPr/>
          <p:nvPr/>
        </p:nvSpPr>
        <p:spPr>
          <a:xfrm>
            <a:off x="731520" y="2587752"/>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2770632"/>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03</a:t>
            </a:r>
          </a:p>
        </p:txBody>
      </p:sp>
      <p:sp>
        <p:nvSpPr>
          <p:cNvPr id="18" name="TextBox 17"/>
          <p:cNvSpPr txBox="1"/>
          <p:nvPr/>
        </p:nvSpPr>
        <p:spPr>
          <a:xfrm>
            <a:off x="1691640" y="2724912"/>
            <a:ext cx="4160520" cy="804672"/>
          </a:xfrm>
          <a:prstGeom prst="rect">
            <a:avLst/>
          </a:prstGeom>
          <a:noFill/>
        </p:spPr>
        <p:txBody>
          <a:bodyPr wrap="square" lIns="0" tIns="0" rIns="0" bIns="0">
            <a:spAutoFit/>
          </a:bodyPr>
          <a:lstStyle/>
          <a:p>
            <a:pPr>
              <a:defRPr sz="1250" b="1">
                <a:solidFill>
                  <a:srgbClr val="1E293B"/>
                </a:solidFill>
              </a:defRPr>
            </a:pPr>
            <a:r>
              <a:t>Nền tảng WordPress &amp; WooCommerce</a:t>
            </a:r>
          </a:p>
          <a:p>
            <a:pPr>
              <a:spcBef>
                <a:spcPts val="300"/>
              </a:spcBef>
              <a:defRPr sz="1050">
                <a:solidFill>
                  <a:srgbClr val="64748B"/>
                </a:solidFill>
              </a:defRPr>
            </a:pPr>
            <a:r>
              <a:t>Cấu hình chuẩn TMĐT Việt Nam (VNĐ, thanh toán COD, giao hàng).</a:t>
            </a:r>
          </a:p>
        </p:txBody>
      </p:sp>
      <p:sp>
        <p:nvSpPr>
          <p:cNvPr id="19" name="Rounded Rectangle 18"/>
          <p:cNvSpPr/>
          <p:nvPr/>
        </p:nvSpPr>
        <p:spPr>
          <a:xfrm>
            <a:off x="6172200" y="2587752"/>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09360" y="2770632"/>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04</a:t>
            </a:r>
          </a:p>
        </p:txBody>
      </p:sp>
      <p:sp>
        <p:nvSpPr>
          <p:cNvPr id="21" name="TextBox 20"/>
          <p:cNvSpPr txBox="1"/>
          <p:nvPr/>
        </p:nvSpPr>
        <p:spPr>
          <a:xfrm>
            <a:off x="7132320" y="2724912"/>
            <a:ext cx="4160520" cy="804672"/>
          </a:xfrm>
          <a:prstGeom prst="rect">
            <a:avLst/>
          </a:prstGeom>
          <a:noFill/>
        </p:spPr>
        <p:txBody>
          <a:bodyPr wrap="square" lIns="0" tIns="0" rIns="0" bIns="0">
            <a:spAutoFit/>
          </a:bodyPr>
          <a:lstStyle/>
          <a:p>
            <a:pPr>
              <a:defRPr sz="1250" b="1">
                <a:solidFill>
                  <a:srgbClr val="1E293B"/>
                </a:solidFill>
              </a:defRPr>
            </a:pPr>
            <a:r>
              <a:t>Chuẩn hóa 15 Sản phẩm OCOP Bến Tre</a:t>
            </a:r>
          </a:p>
          <a:p>
            <a:pPr>
              <a:spcBef>
                <a:spcPts val="300"/>
              </a:spcBef>
              <a:defRPr sz="1050">
                <a:solidFill>
                  <a:srgbClr val="64748B"/>
                </a:solidFill>
              </a:defRPr>
            </a:pPr>
            <a:r>
              <a:t>Phân loại 4 nhóm thực phẩm chế biến truyền thống, tem OCOP.</a:t>
            </a:r>
          </a:p>
        </p:txBody>
      </p:sp>
      <p:sp>
        <p:nvSpPr>
          <p:cNvPr id="22" name="Rounded Rectangle 21"/>
          <p:cNvSpPr/>
          <p:nvPr/>
        </p:nvSpPr>
        <p:spPr>
          <a:xfrm>
            <a:off x="731520" y="3803904"/>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3986784"/>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05</a:t>
            </a:r>
          </a:p>
        </p:txBody>
      </p:sp>
      <p:sp>
        <p:nvSpPr>
          <p:cNvPr id="24" name="TextBox 23"/>
          <p:cNvSpPr txBox="1"/>
          <p:nvPr/>
        </p:nvSpPr>
        <p:spPr>
          <a:xfrm>
            <a:off x="1691640" y="3941064"/>
            <a:ext cx="4160520" cy="804672"/>
          </a:xfrm>
          <a:prstGeom prst="rect">
            <a:avLst/>
          </a:prstGeom>
          <a:noFill/>
        </p:spPr>
        <p:txBody>
          <a:bodyPr wrap="square" lIns="0" tIns="0" rIns="0" bIns="0">
            <a:spAutoFit/>
          </a:bodyPr>
          <a:lstStyle/>
          <a:p>
            <a:pPr>
              <a:defRPr sz="1250" b="1">
                <a:solidFill>
                  <a:srgbClr val="1E293B"/>
                </a:solidFill>
              </a:defRPr>
            </a:pPr>
            <a:r>
              <a:t>Trình diễn kết quả giao diện (UI Showcase)</a:t>
            </a:r>
          </a:p>
          <a:p>
            <a:pPr>
              <a:spcBef>
                <a:spcPts val="300"/>
              </a:spcBef>
              <a:defRPr sz="1050">
                <a:solidFill>
                  <a:srgbClr val="64748B"/>
                </a:solidFill>
              </a:defRPr>
            </a:pPr>
            <a:r>
              <a:t>10 màn hình thực tế: Frontend Bách Hóa Xanh &amp; Backend Admin.</a:t>
            </a:r>
          </a:p>
        </p:txBody>
      </p:sp>
      <p:sp>
        <p:nvSpPr>
          <p:cNvPr id="25" name="Rounded Rectangle 24"/>
          <p:cNvSpPr/>
          <p:nvPr/>
        </p:nvSpPr>
        <p:spPr>
          <a:xfrm>
            <a:off x="6172200" y="3803904"/>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09360" y="3986784"/>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06</a:t>
            </a:r>
          </a:p>
        </p:txBody>
      </p:sp>
      <p:sp>
        <p:nvSpPr>
          <p:cNvPr id="27" name="TextBox 26"/>
          <p:cNvSpPr txBox="1"/>
          <p:nvPr/>
        </p:nvSpPr>
        <p:spPr>
          <a:xfrm>
            <a:off x="7132320" y="3941064"/>
            <a:ext cx="4160520" cy="804672"/>
          </a:xfrm>
          <a:prstGeom prst="rect">
            <a:avLst/>
          </a:prstGeom>
          <a:noFill/>
        </p:spPr>
        <p:txBody>
          <a:bodyPr wrap="square" lIns="0" tIns="0" rIns="0" bIns="0">
            <a:spAutoFit/>
          </a:bodyPr>
          <a:lstStyle/>
          <a:p>
            <a:pPr>
              <a:defRPr sz="1250" b="1">
                <a:solidFill>
                  <a:srgbClr val="1E293B"/>
                </a:solidFill>
              </a:defRPr>
            </a:pPr>
            <a:r>
              <a:t>Quy trình Sao lưu &amp; Phục hồi (Xshell / Xftp)</a:t>
            </a:r>
          </a:p>
          <a:p>
            <a:pPr>
              <a:spcBef>
                <a:spcPts val="300"/>
              </a:spcBef>
              <a:defRPr sz="1050">
                <a:solidFill>
                  <a:srgbClr val="64748B"/>
                </a:solidFill>
              </a:defRPr>
            </a:pPr>
            <a:r>
              <a:t>Tự động hóa bằng bash script: backup.sh, restore.sh &lt; 15 giây.</a:t>
            </a:r>
          </a:p>
        </p:txBody>
      </p:sp>
      <p:sp>
        <p:nvSpPr>
          <p:cNvPr id="28" name="Rounded Rectangle 27"/>
          <p:cNvSpPr/>
          <p:nvPr/>
        </p:nvSpPr>
        <p:spPr>
          <a:xfrm>
            <a:off x="731520" y="5020056"/>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8680" y="5202936"/>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07</a:t>
            </a:r>
          </a:p>
        </p:txBody>
      </p:sp>
      <p:sp>
        <p:nvSpPr>
          <p:cNvPr id="30" name="TextBox 29"/>
          <p:cNvSpPr txBox="1"/>
          <p:nvPr/>
        </p:nvSpPr>
        <p:spPr>
          <a:xfrm>
            <a:off x="1691640" y="5157216"/>
            <a:ext cx="4160520" cy="804672"/>
          </a:xfrm>
          <a:prstGeom prst="rect">
            <a:avLst/>
          </a:prstGeom>
          <a:noFill/>
        </p:spPr>
        <p:txBody>
          <a:bodyPr wrap="square" lIns="0" tIns="0" rIns="0" bIns="0">
            <a:spAutoFit/>
          </a:bodyPr>
          <a:lstStyle/>
          <a:p>
            <a:pPr>
              <a:defRPr sz="1250" b="1">
                <a:solidFill>
                  <a:srgbClr val="1E293B"/>
                </a:solidFill>
              </a:defRPr>
            </a:pPr>
            <a:r>
              <a:t>Đánh giá kết quả &amp; Nghiệm thu đồ án</a:t>
            </a:r>
          </a:p>
          <a:p>
            <a:pPr>
              <a:spcBef>
                <a:spcPts val="300"/>
              </a:spcBef>
              <a:defRPr sz="1050">
                <a:solidFill>
                  <a:srgbClr val="64748B"/>
                </a:solidFill>
              </a:defRPr>
            </a:pPr>
            <a:r>
              <a:t>Bảng đối chiếu 6 hạng mục mục tiêu đạt 100% yêu cầu.</a:t>
            </a:r>
          </a:p>
        </p:txBody>
      </p:sp>
      <p:sp>
        <p:nvSpPr>
          <p:cNvPr id="31" name="Rounded Rectangle 30"/>
          <p:cNvSpPr/>
          <p:nvPr/>
        </p:nvSpPr>
        <p:spPr>
          <a:xfrm>
            <a:off x="6172200" y="5020056"/>
            <a:ext cx="525780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09360" y="5202936"/>
            <a:ext cx="685800" cy="6858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600" b="1">
                <a:solidFill>
                  <a:srgbClr val="FFFFFF"/>
                </a:solidFill>
              </a:defRPr>
            </a:pPr>
            <a:r>
              <a:t>08</a:t>
            </a:r>
          </a:p>
        </p:txBody>
      </p:sp>
      <p:sp>
        <p:nvSpPr>
          <p:cNvPr id="33" name="TextBox 32"/>
          <p:cNvSpPr txBox="1"/>
          <p:nvPr/>
        </p:nvSpPr>
        <p:spPr>
          <a:xfrm>
            <a:off x="7132320" y="5157216"/>
            <a:ext cx="4160520" cy="804672"/>
          </a:xfrm>
          <a:prstGeom prst="rect">
            <a:avLst/>
          </a:prstGeom>
          <a:noFill/>
        </p:spPr>
        <p:txBody>
          <a:bodyPr wrap="square" lIns="0" tIns="0" rIns="0" bIns="0">
            <a:spAutoFit/>
          </a:bodyPr>
          <a:lstStyle/>
          <a:p>
            <a:pPr>
              <a:defRPr sz="1250" b="1">
                <a:solidFill>
                  <a:srgbClr val="1E293B"/>
                </a:solidFill>
              </a:defRPr>
            </a:pPr>
            <a:r>
              <a:t>Hướng phát triển &amp; Kết luận đồ án</a:t>
            </a:r>
          </a:p>
          <a:p>
            <a:pPr>
              <a:spcBef>
                <a:spcPts val="300"/>
              </a:spcBef>
              <a:defRPr sz="1050">
                <a:solidFill>
                  <a:srgbClr val="64748B"/>
                </a:solidFill>
              </a:defRPr>
            </a:pPr>
            <a:r>
              <a:t>Mở rộng cổng thanh toán số MoMo/VNPay, SSL HTTPS, Docker Cloud.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1: ĐẶT VẤN ĐỀ</a:t>
            </a:r>
          </a:p>
          <a:p>
            <a:pPr>
              <a:spcBef>
                <a:spcPts val="200"/>
              </a:spcBef>
              <a:defRPr sz="2000" b="1">
                <a:solidFill>
                  <a:srgbClr val="FFFFFF"/>
                </a:solidFill>
              </a:defRPr>
            </a:pPr>
            <a:r>
              <a:t>TỔNG QUAN ĐỀ TÀI &amp; MỤC TIÊU NGHIÊN CỨU</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3 / 20</a:t>
            </a:r>
          </a:p>
        </p:txBody>
      </p:sp>
      <p:sp>
        <p:nvSpPr>
          <p:cNvPr id="10" name="Rounded Rectangle 9"/>
          <p:cNvSpPr/>
          <p:nvPr/>
        </p:nvSpPr>
        <p:spPr>
          <a:xfrm>
            <a:off x="731520" y="1371600"/>
            <a:ext cx="5257800" cy="4754880"/>
          </a:xfrm>
          <a:prstGeom prst="roundRect">
            <a:avLst/>
          </a:prstGeom>
          <a:solidFill>
            <a:srgbClr val="FFFFFF"/>
          </a:solidFill>
          <a:ln w="19050">
            <a:solidFill>
              <a:srgbClr val="005C30"/>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1645920"/>
            <a:ext cx="4709160" cy="54864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TÍNH CẤP THIẾT CỦA ĐỀ TÀI</a:t>
            </a:r>
          </a:p>
        </p:txBody>
      </p:sp>
      <p:sp>
        <p:nvSpPr>
          <p:cNvPr id="12" name="TextBox 11"/>
          <p:cNvSpPr txBox="1"/>
          <p:nvPr/>
        </p:nvSpPr>
        <p:spPr>
          <a:xfrm>
            <a:off x="1051560" y="2377440"/>
            <a:ext cx="4617720" cy="3566160"/>
          </a:xfrm>
          <a:prstGeom prst="rect">
            <a:avLst/>
          </a:prstGeom>
          <a:noFill/>
        </p:spPr>
        <p:txBody>
          <a:bodyPr wrap="square">
            <a:spAutoFit/>
          </a:bodyPr>
          <a:lstStyle/>
          <a:p>
            <a:pPr>
              <a:spcBef>
                <a:spcPts val="1000"/>
              </a:spcBef>
            </a:pPr>
            <a:r>
              <a:rPr b="1" sz="1150">
                <a:solidFill>
                  <a:srgbClr val="005C30"/>
                </a:solidFill>
              </a:rPr>
              <a:t>• Nhu cầu thị trường: </a:t>
            </a:r>
            <a:r>
              <a:rPr sz="1100">
                <a:solidFill>
                  <a:srgbClr val="1E293B"/>
                </a:solidFill>
              </a:rPr>
              <a:t>Thực phẩm chế biến đặc sản Bến Tre (bánh kẹo, mứt sấy, thủy sản khô) có chất lượng vượt trội nhưng kênh tiêu thụ truyền thống bị giới hạn địa lý.</a:t>
            </a:r>
          </a:p>
          <a:p>
            <a:pPr>
              <a:spcBef>
                <a:spcPts val="1000"/>
              </a:spcBef>
            </a:pPr>
            <a:r>
              <a:rPr b="1" sz="1150">
                <a:solidFill>
                  <a:srgbClr val="005C30"/>
                </a:solidFill>
              </a:rPr>
              <a:t>• Chuyển đổi số nông sản: </a:t>
            </a:r>
            <a:r>
              <a:rPr sz="1100">
                <a:solidFill>
                  <a:srgbClr val="1E293B"/>
                </a:solidFill>
              </a:rPr>
              <a:t>Cần một giải pháp số hóa thương mại điện tử trực quan, hiện đại để kết nối trực tiếp cơ sở làng nghề tới người tiêu dùng.</a:t>
            </a:r>
          </a:p>
          <a:p>
            <a:pPr>
              <a:spcBef>
                <a:spcPts val="1000"/>
              </a:spcBef>
            </a:pPr>
            <a:r>
              <a:rPr b="1" sz="1150">
                <a:solidFill>
                  <a:srgbClr val="005C30"/>
                </a:solidFill>
              </a:rPr>
              <a:t>• Mô hình Bách Hóa Xanh: </a:t>
            </a:r>
            <a:r>
              <a:rPr sz="1100">
                <a:solidFill>
                  <a:srgbClr val="1E293B"/>
                </a:solidFill>
              </a:rPr>
              <a:t>Giao diện chuỗi bán lẻ quen thuộc tại Việt Nam, tối ưu tốc độ mua hàng, tìm kiếm và phân loại ngành hàng rõ ràng.</a:t>
            </a:r>
          </a:p>
        </p:txBody>
      </p:sp>
      <p:sp>
        <p:nvSpPr>
          <p:cNvPr id="13" name="Rounded Rectangle 12"/>
          <p:cNvSpPr/>
          <p:nvPr/>
        </p:nvSpPr>
        <p:spPr>
          <a:xfrm>
            <a:off x="6172200" y="1371600"/>
            <a:ext cx="5257800" cy="475488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46520" y="1645920"/>
            <a:ext cx="4709160" cy="54864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MỤC TIÊU ĐỒ ÁN ĐẶT RA</a:t>
            </a:r>
          </a:p>
        </p:txBody>
      </p:sp>
      <p:sp>
        <p:nvSpPr>
          <p:cNvPr id="15" name="TextBox 14"/>
          <p:cNvSpPr txBox="1"/>
          <p:nvPr/>
        </p:nvSpPr>
        <p:spPr>
          <a:xfrm>
            <a:off x="6492240" y="2377440"/>
            <a:ext cx="4617720" cy="3566160"/>
          </a:xfrm>
          <a:prstGeom prst="rect">
            <a:avLst/>
          </a:prstGeom>
          <a:noFill/>
        </p:spPr>
        <p:txBody>
          <a:bodyPr wrap="square">
            <a:spAutoFit/>
          </a:bodyPr>
          <a:lstStyle/>
          <a:p>
            <a:pPr>
              <a:spcBef>
                <a:spcPts val="1000"/>
              </a:spcBef>
            </a:pPr>
            <a:r>
              <a:rPr b="1" sz="1150">
                <a:solidFill>
                  <a:srgbClr val="008848"/>
                </a:solidFill>
              </a:rPr>
              <a:t>• Làm chủ LAMP Stack: </a:t>
            </a:r>
            <a:r>
              <a:rPr sz="1100">
                <a:solidFill>
                  <a:srgbClr val="1E293B"/>
                </a:solidFill>
              </a:rPr>
              <a:t>Triển khai hoàn chỉnh máy chủ Linux Ubuntu 22.04 LTS, cấu hình Apache, MySQL và PHP tối ưu hóa hiệu năng và bảo mật.</a:t>
            </a:r>
          </a:p>
          <a:p>
            <a:pPr>
              <a:spcBef>
                <a:spcPts val="1000"/>
              </a:spcBef>
            </a:pPr>
            <a:r>
              <a:rPr b="1" sz="1150">
                <a:solidFill>
                  <a:srgbClr val="008848"/>
                </a:solidFill>
              </a:rPr>
              <a:t>• Xây dựng Website TMĐT: </a:t>
            </a:r>
            <a:r>
              <a:rPr sz="1100">
                <a:solidFill>
                  <a:srgbClr val="1E293B"/>
                </a:solidFill>
              </a:rPr>
              <a:t>WordPress 6.8 &amp; WooCommerce vận hành ổn định, cấu hình giỏ hàng, mã giảm giá, phương thức COD và thanh toán ngân hàng.</a:t>
            </a:r>
          </a:p>
          <a:p>
            <a:pPr>
              <a:spcBef>
                <a:spcPts val="1000"/>
              </a:spcBef>
            </a:pPr>
            <a:r>
              <a:rPr b="1" sz="1150">
                <a:solidFill>
                  <a:srgbClr val="008848"/>
                </a:solidFill>
              </a:rPr>
              <a:t>• Quy trình Sao lưu &amp; Phục hồi: </a:t>
            </a:r>
            <a:r>
              <a:rPr sz="1100">
                <a:solidFill>
                  <a:srgbClr val="1E293B"/>
                </a:solidFill>
              </a:rPr>
              <a:t>Thiết lập kịch bản tự động hóa sao lưu định kỳ qua Xshell dòng lệnh và truyền tệp ngoại vi SFTP qua Xftp, phục hồi thảm họa &lt; 15 giây.</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2: HẠ TẦNG KỸ THUẬT</a:t>
            </a:r>
          </a:p>
          <a:p>
            <a:pPr>
              <a:spcBef>
                <a:spcPts val="200"/>
              </a:spcBef>
              <a:defRPr sz="2000" b="1">
                <a:solidFill>
                  <a:srgbClr val="FFFFFF"/>
                </a:solidFill>
              </a:defRPr>
            </a:pPr>
            <a:r>
              <a:t>KIẾN TRÚC MÁY CHỦ MÃ NGUỒN MỞ LAMP STACK</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4 / 20</a:t>
            </a:r>
          </a:p>
        </p:txBody>
      </p:sp>
      <p:sp>
        <p:nvSpPr>
          <p:cNvPr id="10" name="Rounded Rectangle 9"/>
          <p:cNvSpPr/>
          <p:nvPr/>
        </p:nvSpPr>
        <p:spPr>
          <a:xfrm>
            <a:off x="731520" y="1371600"/>
            <a:ext cx="1069848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371600"/>
            <a:ext cx="182880" cy="1078992"/>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481328"/>
            <a:ext cx="10149840" cy="868680"/>
          </a:xfrm>
          <a:prstGeom prst="rect">
            <a:avLst/>
          </a:prstGeom>
          <a:noFill/>
        </p:spPr>
        <p:txBody>
          <a:bodyPr wrap="square">
            <a:spAutoFit/>
          </a:bodyPr>
          <a:lstStyle/>
          <a:p>
            <a:r>
              <a:rPr b="1" sz="1300">
                <a:solidFill>
                  <a:srgbClr val="005C30"/>
                </a:solidFill>
              </a:rPr>
              <a:t>[L] LINUX UBUNTU 22.04 LTS  </a:t>
            </a:r>
            <a:r>
              <a:rPr i="1" b="1" sz="1100">
                <a:solidFill>
                  <a:srgbClr val="64748B"/>
                </a:solidFill>
              </a:rPr>
              <a:t>[Hệ điều hành nền tảng]</a:t>
            </a:r>
          </a:p>
          <a:p>
            <a:pPr>
              <a:spcBef>
                <a:spcPts val="300"/>
              </a:spcBef>
              <a:defRPr sz="1100">
                <a:solidFill>
                  <a:srgbClr val="1E293B"/>
                </a:solidFill>
              </a:defRPr>
            </a:pPr>
            <a:r>
              <a:t>Bản phân phối Linux nhân chuẩn doanh nghiệp, chạy chế độ Headless (không giao diện đồ họa) giúp tối ưu 100% tài nguyên RAM và CPU máy chủ, an toàn trước mã độc Windows.</a:t>
            </a:r>
          </a:p>
        </p:txBody>
      </p:sp>
      <p:sp>
        <p:nvSpPr>
          <p:cNvPr id="13" name="Rounded Rectangle 12"/>
          <p:cNvSpPr/>
          <p:nvPr/>
        </p:nvSpPr>
        <p:spPr>
          <a:xfrm>
            <a:off x="731520" y="2587752"/>
            <a:ext cx="1069848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587752"/>
            <a:ext cx="182880" cy="1078992"/>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697480"/>
            <a:ext cx="10149840" cy="868680"/>
          </a:xfrm>
          <a:prstGeom prst="rect">
            <a:avLst/>
          </a:prstGeom>
          <a:noFill/>
        </p:spPr>
        <p:txBody>
          <a:bodyPr wrap="square">
            <a:spAutoFit/>
          </a:bodyPr>
          <a:lstStyle/>
          <a:p>
            <a:r>
              <a:rPr b="1" sz="1300">
                <a:solidFill>
                  <a:srgbClr val="005C30"/>
                </a:solidFill>
              </a:rPr>
              <a:t>[A] APACHE HTTP SERVER 2.4  </a:t>
            </a:r>
            <a:r>
              <a:rPr i="1" b="1" sz="1100">
                <a:solidFill>
                  <a:srgbClr val="64748B"/>
                </a:solidFill>
              </a:rPr>
              <a:t>[Máy chủ Web tiếp nhận dịch vụ]</a:t>
            </a:r>
          </a:p>
          <a:p>
            <a:pPr>
              <a:spcBef>
                <a:spcPts val="300"/>
              </a:spcBef>
              <a:defRPr sz="1100">
                <a:solidFill>
                  <a:srgbClr val="1E293B"/>
                </a:solidFill>
              </a:defRPr>
            </a:pPr>
            <a:r>
              <a:t>Đóng vai trò Web Server xử lý các yêu cầu HTTP/HTTPS, cấu hình VirtualHost phục vụ mã nguồn WordPress, kích hoạt mô-đun mod_rewrite điều hướng URL thân thiện chuẩn SEO.</a:t>
            </a:r>
          </a:p>
        </p:txBody>
      </p:sp>
      <p:sp>
        <p:nvSpPr>
          <p:cNvPr id="16" name="Rounded Rectangle 15"/>
          <p:cNvSpPr/>
          <p:nvPr/>
        </p:nvSpPr>
        <p:spPr>
          <a:xfrm>
            <a:off x="731520" y="3803904"/>
            <a:ext cx="1069848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803904"/>
            <a:ext cx="182880" cy="1078992"/>
          </a:xfrm>
          <a:prstGeom prst="round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913632"/>
            <a:ext cx="10149840" cy="868680"/>
          </a:xfrm>
          <a:prstGeom prst="rect">
            <a:avLst/>
          </a:prstGeom>
          <a:noFill/>
        </p:spPr>
        <p:txBody>
          <a:bodyPr wrap="square">
            <a:spAutoFit/>
          </a:bodyPr>
          <a:lstStyle/>
          <a:p>
            <a:r>
              <a:rPr b="1" sz="1300">
                <a:solidFill>
                  <a:srgbClr val="005C30"/>
                </a:solidFill>
              </a:rPr>
              <a:t>[M] MYSQL SERVER 8.0  </a:t>
            </a:r>
            <a:r>
              <a:rPr i="1" b="1" sz="1100">
                <a:solidFill>
                  <a:srgbClr val="64748B"/>
                </a:solidFill>
              </a:rPr>
              <a:t>[Hệ quản trị CSDL quan hệ]</a:t>
            </a:r>
          </a:p>
          <a:p>
            <a:pPr>
              <a:spcBef>
                <a:spcPts val="300"/>
              </a:spcBef>
              <a:defRPr sz="1100">
                <a:solidFill>
                  <a:srgbClr val="1E293B"/>
                </a:solidFill>
              </a:defRPr>
            </a:pPr>
            <a:r>
              <a:t>Lưu trữ toàn bộ CSDL thucpham_bentree: Bảng tài khoản người dùng, 15 sản phẩm OCOP, danh mục ngành hàng, đơn hàng và lịch sử giao dịch. Hỗ trợ trích xuất bằng mysqldump.</a:t>
            </a:r>
          </a:p>
        </p:txBody>
      </p:sp>
      <p:sp>
        <p:nvSpPr>
          <p:cNvPr id="19" name="Rounded Rectangle 18"/>
          <p:cNvSpPr/>
          <p:nvPr/>
        </p:nvSpPr>
        <p:spPr>
          <a:xfrm>
            <a:off x="731520" y="5020056"/>
            <a:ext cx="10698480" cy="107899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5020056"/>
            <a:ext cx="182880" cy="1078992"/>
          </a:xfrm>
          <a:prstGeom prst="roundRect">
            <a:avLst/>
          </a:prstGeom>
          <a:solidFill>
            <a:srgbClr val="EA1E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129784"/>
            <a:ext cx="10149840" cy="868680"/>
          </a:xfrm>
          <a:prstGeom prst="rect">
            <a:avLst/>
          </a:prstGeom>
          <a:noFill/>
        </p:spPr>
        <p:txBody>
          <a:bodyPr wrap="square">
            <a:spAutoFit/>
          </a:bodyPr>
          <a:lstStyle/>
          <a:p>
            <a:r>
              <a:rPr b="1" sz="1300">
                <a:solidFill>
                  <a:srgbClr val="005C30"/>
                </a:solidFill>
              </a:rPr>
              <a:t>[P] PHP 8.1 &amp; EXTENSIONS  </a:t>
            </a:r>
            <a:r>
              <a:rPr i="1" b="1" sz="1100">
                <a:solidFill>
                  <a:srgbClr val="64748B"/>
                </a:solidFill>
              </a:rPr>
              <a:t>[Trình thông dịch mã nguồn]</a:t>
            </a:r>
          </a:p>
          <a:p>
            <a:pPr>
              <a:spcBef>
                <a:spcPts val="300"/>
              </a:spcBef>
              <a:defRPr sz="1100">
                <a:solidFill>
                  <a:srgbClr val="1E293B"/>
                </a:solidFill>
              </a:defRPr>
            </a:pPr>
            <a:r>
              <a:t>Ngôn ngữ kịch bản phía máy chủ xử lý logic WordPress. Tích hợp trọn bộ thư viện mở rộng: php-gd (xử lý ảnh), php-mysql (kết nối CSDL), php-curl (gọi API), php-zip, php-mbstring.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3: NỀN TẢNG THƯƠNG MẠI ĐIỆN TỬ</a:t>
            </a:r>
          </a:p>
          <a:p>
            <a:pPr>
              <a:spcBef>
                <a:spcPts val="200"/>
              </a:spcBef>
              <a:defRPr sz="2000" b="1">
                <a:solidFill>
                  <a:srgbClr val="FFFFFF"/>
                </a:solidFill>
              </a:defRPr>
            </a:pPr>
            <a:r>
              <a:t>NỀN TẢNG CMS WORDPRESS &amp; WOOCOMMERCE TMĐT</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5 / 20</a:t>
            </a:r>
          </a:p>
        </p:txBody>
      </p:sp>
      <p:sp>
        <p:nvSpPr>
          <p:cNvPr id="10" name="Rounded Rectangle 9"/>
          <p:cNvSpPr/>
          <p:nvPr/>
        </p:nvSpPr>
        <p:spPr>
          <a:xfrm>
            <a:off x="731520" y="1371600"/>
            <a:ext cx="5257800" cy="4754880"/>
          </a:xfrm>
          <a:prstGeom prst="roundRect">
            <a:avLst/>
          </a:prstGeom>
          <a:solidFill>
            <a:srgbClr val="FFFFFF"/>
          </a:solidFill>
          <a:ln w="19050">
            <a:solidFill>
              <a:srgbClr val="005C30"/>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1645920"/>
            <a:ext cx="4709160" cy="59436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HỆ QUẢN TRỊ NỘI DUNG WORDPRESS 6.8</a:t>
            </a:r>
          </a:p>
        </p:txBody>
      </p:sp>
      <p:sp>
        <p:nvSpPr>
          <p:cNvPr id="12" name="TextBox 11"/>
          <p:cNvSpPr txBox="1"/>
          <p:nvPr/>
        </p:nvSpPr>
        <p:spPr>
          <a:xfrm>
            <a:off x="1051560" y="2423160"/>
            <a:ext cx="4617720" cy="3474720"/>
          </a:xfrm>
          <a:prstGeom prst="rect">
            <a:avLst/>
          </a:prstGeom>
          <a:noFill/>
        </p:spPr>
        <p:txBody>
          <a:bodyPr wrap="square">
            <a:spAutoFit/>
          </a:bodyPr>
          <a:lstStyle/>
          <a:p>
            <a:pPr>
              <a:spcBef>
                <a:spcPts val="1000"/>
              </a:spcBef>
              <a:defRPr sz="1100">
                <a:solidFill>
                  <a:srgbClr val="1E293B"/>
                </a:solidFill>
              </a:defRPr>
            </a:pPr>
            <a:r>
              <a:t>✓  Hệ quản trị nội dung (CMS) mã nguồn mở phổ biến nhất thế giới (chiếm hơn 43% website toàn cầu).</a:t>
            </a:r>
          </a:p>
          <a:p>
            <a:pPr>
              <a:spcBef>
                <a:spcPts val="1000"/>
              </a:spcBef>
              <a:defRPr sz="1100">
                <a:solidFill>
                  <a:srgbClr val="1E293B"/>
                </a:solidFill>
              </a:defRPr>
            </a:pPr>
            <a:r>
              <a:t>✓  Kiến trúc mô-đun linh hoạt với kho plugin và theme phong phú, hỗ trợ đa ngôn ngữ và tiếng Việt hoàn chỉnh.</a:t>
            </a:r>
          </a:p>
          <a:p>
            <a:pPr>
              <a:spcBef>
                <a:spcPts val="1000"/>
              </a:spcBef>
              <a:defRPr sz="1100">
                <a:solidFill>
                  <a:srgbClr val="1E293B"/>
                </a:solidFill>
              </a:defRPr>
            </a:pPr>
            <a:r>
              <a:t>✓  Bảo mật mạnh mẽ, kiểm soát phiên người dùng, phân quyền quản trị viên (Admin) và khách hàng (Customer).</a:t>
            </a:r>
          </a:p>
          <a:p>
            <a:pPr>
              <a:spcBef>
                <a:spcPts val="1000"/>
              </a:spcBef>
              <a:defRPr sz="1100">
                <a:solidFill>
                  <a:srgbClr val="1E293B"/>
                </a:solidFill>
              </a:defRPr>
            </a:pPr>
            <a:r>
              <a:t>✓  Khả năng mở rộng REST API phục vụ tích hợp ứng dụng di động trong tương lai.</a:t>
            </a:r>
          </a:p>
        </p:txBody>
      </p:sp>
      <p:sp>
        <p:nvSpPr>
          <p:cNvPr id="13" name="Rounded Rectangle 12"/>
          <p:cNvSpPr/>
          <p:nvPr/>
        </p:nvSpPr>
        <p:spPr>
          <a:xfrm>
            <a:off x="6172200" y="1371600"/>
            <a:ext cx="5257800" cy="475488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46520" y="1645920"/>
            <a:ext cx="4709160" cy="59436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GIẢI PHÁP TMĐT CHUYÊN NGHIỆP WOOCOMMERCE 9.8.5</a:t>
            </a:r>
          </a:p>
        </p:txBody>
      </p:sp>
      <p:sp>
        <p:nvSpPr>
          <p:cNvPr id="15" name="TextBox 14"/>
          <p:cNvSpPr txBox="1"/>
          <p:nvPr/>
        </p:nvSpPr>
        <p:spPr>
          <a:xfrm>
            <a:off x="6492240" y="2423160"/>
            <a:ext cx="4617720" cy="3474720"/>
          </a:xfrm>
          <a:prstGeom prst="rect">
            <a:avLst/>
          </a:prstGeom>
          <a:noFill/>
        </p:spPr>
        <p:txBody>
          <a:bodyPr wrap="square">
            <a:spAutoFit/>
          </a:bodyPr>
          <a:lstStyle/>
          <a:p>
            <a:pPr>
              <a:spcBef>
                <a:spcPts val="1000"/>
              </a:spcBef>
              <a:defRPr sz="1100">
                <a:solidFill>
                  <a:srgbClr val="1E293B"/>
                </a:solidFill>
              </a:defRPr>
            </a:pPr>
            <a:r>
              <a:t>✓  Biến WordPress thành hệ thống bán hàng đa chức năng: Quản lý sản phẩm, danh mục, tồn kho và đơn hàng.</a:t>
            </a:r>
          </a:p>
          <a:p>
            <a:pPr>
              <a:spcBef>
                <a:spcPts val="1000"/>
              </a:spcBef>
              <a:defRPr sz="1100">
                <a:solidFill>
                  <a:srgbClr val="1E293B"/>
                </a:solidFill>
              </a:defRPr>
            </a:pPr>
            <a:r>
              <a:t>✓  Chuẩn hóa tiền tệ: Đồng Việt Nam (VNĐ), hiển thị dấu chấm ngăn cách hàng nghìn (ví dụ: 65.000 đ).</a:t>
            </a:r>
          </a:p>
          <a:p>
            <a:pPr>
              <a:spcBef>
                <a:spcPts val="1000"/>
              </a:spcBef>
              <a:defRPr sz="1100">
                <a:solidFill>
                  <a:srgbClr val="1E293B"/>
                </a:solidFill>
              </a:defRPr>
            </a:pPr>
            <a:r>
              <a:t>✓  Cấu hình 2 cổng thanh toán: Trả tiền mặt khi nhận hàng (COD) và Chuyển khoản ngân hàng trực tiếp.</a:t>
            </a:r>
          </a:p>
          <a:p>
            <a:pPr>
              <a:spcBef>
                <a:spcPts val="1000"/>
              </a:spcBef>
              <a:defRPr sz="1100">
                <a:solidFill>
                  <a:srgbClr val="1E293B"/>
                </a:solidFill>
              </a:defRPr>
            </a:pPr>
            <a:r>
              <a:t>✓  Hệ thống tạo mã giảm giá (Coupon), tính thuế và phí giao hàng linh hoạt theo từng khu vực.</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4: DỮ LIỆU ĐẶC SẢN</a:t>
            </a:r>
          </a:p>
          <a:p>
            <a:pPr>
              <a:spcBef>
                <a:spcPts val="200"/>
              </a:spcBef>
              <a:defRPr sz="2000" b="1">
                <a:solidFill>
                  <a:srgbClr val="FFFFFF"/>
                </a:solidFill>
              </a:defRPr>
            </a:pPr>
            <a:r>
              <a:t>CHUẨN HÓA 15 SẢN PHẨM CHẾ BIẾN OCOP BẾN TRE</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6 / 20</a:t>
            </a:r>
          </a:p>
        </p:txBody>
      </p:sp>
      <p:sp>
        <p:nvSpPr>
          <p:cNvPr id="10" name="Rounded Rectangle 9"/>
          <p:cNvSpPr/>
          <p:nvPr/>
        </p:nvSpPr>
        <p:spPr>
          <a:xfrm>
            <a:off x="731520" y="1371600"/>
            <a:ext cx="5257800" cy="2286000"/>
          </a:xfrm>
          <a:prstGeom prst="roundRect">
            <a:avLst/>
          </a:prstGeom>
          <a:solidFill>
            <a:srgbClr val="FFFFFF"/>
          </a:solidFill>
          <a:ln w="19050">
            <a:solidFill>
              <a:srgbClr val="005C30"/>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1508760"/>
            <a:ext cx="4892040" cy="41148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NHÓM 1: ĐẶC SẢN TỪ DỪA BẾN TRE</a:t>
            </a:r>
          </a:p>
        </p:txBody>
      </p:sp>
      <p:sp>
        <p:nvSpPr>
          <p:cNvPr id="12" name="TextBox 11"/>
          <p:cNvSpPr txBox="1"/>
          <p:nvPr/>
        </p:nvSpPr>
        <p:spPr>
          <a:xfrm>
            <a:off x="960120" y="1993392"/>
            <a:ext cx="4800600" cy="1554480"/>
          </a:xfrm>
          <a:prstGeom prst="rect">
            <a:avLst/>
          </a:prstGeom>
          <a:noFill/>
        </p:spPr>
        <p:txBody>
          <a:bodyPr wrap="square">
            <a:spAutoFit/>
          </a:bodyPr>
          <a:lstStyle/>
          <a:p>
            <a:pPr>
              <a:spcBef>
                <a:spcPts val="300"/>
              </a:spcBef>
              <a:defRPr sz="1000">
                <a:solidFill>
                  <a:srgbClr val="1E293B"/>
                </a:solidFill>
              </a:defRPr>
            </a:pPr>
            <a:r>
              <a:t>1. Kẹo dừa sáp sầu riêng Bến Tre (Hộp 300g) - 65.000 đ [OCOP 4 sao]</a:t>
            </a:r>
          </a:p>
          <a:p>
            <a:pPr>
              <a:spcBef>
                <a:spcPts val="300"/>
              </a:spcBef>
              <a:defRPr sz="1000">
                <a:solidFill>
                  <a:srgbClr val="1E293B"/>
                </a:solidFill>
              </a:defRPr>
            </a:pPr>
            <a:r>
              <a:t>2. Mứt dừa non truyền thống ít đường (Hộp 400g) - 85.000 đ</a:t>
            </a:r>
          </a:p>
          <a:p>
            <a:pPr>
              <a:spcBef>
                <a:spcPts val="300"/>
              </a:spcBef>
              <a:defRPr sz="1000">
                <a:solidFill>
                  <a:srgbClr val="1E293B"/>
                </a:solidFill>
              </a:defRPr>
            </a:pPr>
            <a:r>
              <a:t>3. Rượu dừa đóng bình hồ lô Bến Tre (Bình 500ml) - 135.000 đ</a:t>
            </a:r>
          </a:p>
          <a:p>
            <a:pPr>
              <a:spcBef>
                <a:spcPts val="300"/>
              </a:spcBef>
              <a:defRPr sz="1000">
                <a:solidFill>
                  <a:srgbClr val="1E293B"/>
                </a:solidFill>
              </a:defRPr>
            </a:pPr>
            <a:r>
              <a:t>4. Thạch dừa xiêm Bến Tre giòn ngọt (Hộp 500g) - 35.000 đ</a:t>
            </a:r>
          </a:p>
        </p:txBody>
      </p:sp>
      <p:sp>
        <p:nvSpPr>
          <p:cNvPr id="13" name="Rounded Rectangle 12"/>
          <p:cNvSpPr/>
          <p:nvPr/>
        </p:nvSpPr>
        <p:spPr>
          <a:xfrm>
            <a:off x="6172200" y="1371600"/>
            <a:ext cx="5257800" cy="228600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1508760"/>
            <a:ext cx="4892040" cy="41148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NHÓM 2: BÁNH KẸO TRUYỀN THỐNG LÀNG NGHỀ</a:t>
            </a:r>
          </a:p>
        </p:txBody>
      </p:sp>
      <p:sp>
        <p:nvSpPr>
          <p:cNvPr id="15" name="TextBox 14"/>
          <p:cNvSpPr txBox="1"/>
          <p:nvPr/>
        </p:nvSpPr>
        <p:spPr>
          <a:xfrm>
            <a:off x="6400800" y="1993392"/>
            <a:ext cx="4800600" cy="1554480"/>
          </a:xfrm>
          <a:prstGeom prst="rect">
            <a:avLst/>
          </a:prstGeom>
          <a:noFill/>
        </p:spPr>
        <p:txBody>
          <a:bodyPr wrap="square">
            <a:spAutoFit/>
          </a:bodyPr>
          <a:lstStyle/>
          <a:p>
            <a:pPr>
              <a:spcBef>
                <a:spcPts val="300"/>
              </a:spcBef>
              <a:defRPr sz="1000">
                <a:solidFill>
                  <a:srgbClr val="1E293B"/>
                </a:solidFill>
              </a:defRPr>
            </a:pPr>
            <a:r>
              <a:t>5. Bánh tráng sữa dừa sầu riêng Tiền Giang/Bến Tre (Bịch 10 cái) - 45.000 đ</a:t>
            </a:r>
          </a:p>
          <a:p>
            <a:pPr>
              <a:spcBef>
                <a:spcPts val="300"/>
              </a:spcBef>
              <a:defRPr sz="1000">
                <a:solidFill>
                  <a:srgbClr val="1E293B"/>
                </a:solidFill>
              </a:defRPr>
            </a:pPr>
            <a:r>
              <a:t>6. Bánh phồng tôm Sơn Đốc Bến Tre (Hộp 500g) - 75.000 đ [Làng nghề Sơn Đốc]</a:t>
            </a:r>
          </a:p>
          <a:p>
            <a:pPr>
              <a:spcBef>
                <a:spcPts val="300"/>
              </a:spcBef>
              <a:defRPr sz="1000">
                <a:solidFill>
                  <a:srgbClr val="1E293B"/>
                </a:solidFill>
              </a:defRPr>
            </a:pPr>
            <a:r>
              <a:t>7. Bánh kẹp cuốn nước cốt dừa giòn rụm (Hộp 350g) - 50.000 đ</a:t>
            </a:r>
          </a:p>
          <a:p>
            <a:pPr>
              <a:spcBef>
                <a:spcPts val="300"/>
              </a:spcBef>
              <a:defRPr sz="1000">
                <a:solidFill>
                  <a:srgbClr val="1E293B"/>
                </a:solidFill>
              </a:defRPr>
            </a:pPr>
            <a:r>
              <a:t>8. Kẹo chuối cuộn đậu phộng Bến Tre (Bịch 400g) - 45.000 đ</a:t>
            </a:r>
          </a:p>
        </p:txBody>
      </p:sp>
      <p:sp>
        <p:nvSpPr>
          <p:cNvPr id="16" name="Rounded Rectangle 15"/>
          <p:cNvSpPr/>
          <p:nvPr/>
        </p:nvSpPr>
        <p:spPr>
          <a:xfrm>
            <a:off x="731520" y="3794760"/>
            <a:ext cx="5257800" cy="2286000"/>
          </a:xfrm>
          <a:prstGeom prst="roundRect">
            <a:avLst/>
          </a:prstGeom>
          <a:solidFill>
            <a:srgbClr val="FFFFFF"/>
          </a:solidFill>
          <a:ln w="19050">
            <a:solidFill>
              <a:srgbClr val="FCD53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3931920"/>
            <a:ext cx="4892040" cy="411480"/>
          </a:xfrm>
          <a:prstGeom prst="round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defRPr>
            </a:pPr>
            <a:r>
              <a:t>NHÓM 3: MỨT &amp; TRÁI CÂY SẤY DẺO</a:t>
            </a:r>
          </a:p>
        </p:txBody>
      </p:sp>
      <p:sp>
        <p:nvSpPr>
          <p:cNvPr id="18" name="TextBox 17"/>
          <p:cNvSpPr txBox="1"/>
          <p:nvPr/>
        </p:nvSpPr>
        <p:spPr>
          <a:xfrm>
            <a:off x="960120" y="4416552"/>
            <a:ext cx="4800600" cy="1554480"/>
          </a:xfrm>
          <a:prstGeom prst="rect">
            <a:avLst/>
          </a:prstGeom>
          <a:noFill/>
        </p:spPr>
        <p:txBody>
          <a:bodyPr wrap="square">
            <a:spAutoFit/>
          </a:bodyPr>
          <a:lstStyle/>
          <a:p>
            <a:pPr>
              <a:spcBef>
                <a:spcPts val="300"/>
              </a:spcBef>
              <a:defRPr sz="1000">
                <a:solidFill>
                  <a:srgbClr val="1E293B"/>
                </a:solidFill>
              </a:defRPr>
            </a:pPr>
            <a:r>
              <a:t>9. Chuối sấy dẻo Bến Tre đóng túi zip (Gói 300g) - 40.000 đ</a:t>
            </a:r>
          </a:p>
          <a:p>
            <a:pPr>
              <a:spcBef>
                <a:spcPts val="300"/>
              </a:spcBef>
              <a:defRPr sz="1000">
                <a:solidFill>
                  <a:srgbClr val="1E293B"/>
                </a:solidFill>
              </a:defRPr>
            </a:pPr>
            <a:r>
              <a:t>10. Xoài sấy dẻo Chợ Lách Bến Tre (Gói 250g) - 65.000 đ</a:t>
            </a:r>
          </a:p>
          <a:p>
            <a:pPr>
              <a:spcBef>
                <a:spcPts val="300"/>
              </a:spcBef>
              <a:defRPr sz="1000">
                <a:solidFill>
                  <a:srgbClr val="1E293B"/>
                </a:solidFill>
              </a:defRPr>
            </a:pPr>
            <a:r>
              <a:t>11. Mứt gừng dẻo lăn mè Bến Tre (Hộp 300g) - 55.000 đ</a:t>
            </a:r>
          </a:p>
        </p:txBody>
      </p:sp>
      <p:sp>
        <p:nvSpPr>
          <p:cNvPr id="19" name="Rounded Rectangle 18"/>
          <p:cNvSpPr/>
          <p:nvPr/>
        </p:nvSpPr>
        <p:spPr>
          <a:xfrm>
            <a:off x="6172200" y="3794760"/>
            <a:ext cx="5257800" cy="2286000"/>
          </a:xfrm>
          <a:prstGeom prst="roundRect">
            <a:avLst/>
          </a:prstGeom>
          <a:solidFill>
            <a:srgbClr val="FFFFFF"/>
          </a:solidFill>
          <a:ln w="19050">
            <a:solidFill>
              <a:srgbClr val="EA1E2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3931920"/>
            <a:ext cx="4892040" cy="411480"/>
          </a:xfrm>
          <a:prstGeom prst="roundRect">
            <a:avLst/>
          </a:prstGeom>
          <a:solidFill>
            <a:srgbClr val="EA1E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NHÓM 4: THỰC PHẨM CHẾ BIẾN &amp; THỦY SẢN KHÔ</a:t>
            </a:r>
          </a:p>
        </p:txBody>
      </p:sp>
      <p:sp>
        <p:nvSpPr>
          <p:cNvPr id="21" name="TextBox 20"/>
          <p:cNvSpPr txBox="1"/>
          <p:nvPr/>
        </p:nvSpPr>
        <p:spPr>
          <a:xfrm>
            <a:off x="6400800" y="4416552"/>
            <a:ext cx="4800600" cy="1554480"/>
          </a:xfrm>
          <a:prstGeom prst="rect">
            <a:avLst/>
          </a:prstGeom>
          <a:noFill/>
        </p:spPr>
        <p:txBody>
          <a:bodyPr wrap="square">
            <a:spAutoFit/>
          </a:bodyPr>
          <a:lstStyle/>
          <a:p>
            <a:pPr>
              <a:spcBef>
                <a:spcPts val="300"/>
              </a:spcBef>
              <a:defRPr sz="1000">
                <a:solidFill>
                  <a:srgbClr val="1E293B"/>
                </a:solidFill>
              </a:defRPr>
            </a:pPr>
            <a:r>
              <a:t>12. Nem chua Bến Tre gói lá ổi truyền thống (Chục 10 chiếc) - 55.000 đ</a:t>
            </a:r>
          </a:p>
          <a:p>
            <a:pPr>
              <a:spcBef>
                <a:spcPts val="300"/>
              </a:spcBef>
              <a:defRPr sz="1000">
                <a:solidFill>
                  <a:srgbClr val="1E293B"/>
                </a:solidFill>
              </a:defRPr>
            </a:pPr>
            <a:r>
              <a:t>13. Tôm khô Ba Tri Bến Tre loại 1 (Hũ 250g) - 220.000 đ [Thương hiệu Ba Tri]</a:t>
            </a:r>
          </a:p>
          <a:p>
            <a:pPr>
              <a:spcBef>
                <a:spcPts val="300"/>
              </a:spcBef>
              <a:defRPr sz="1000">
                <a:solidFill>
                  <a:srgbClr val="1E293B"/>
                </a:solidFill>
              </a:defRPr>
            </a:pPr>
            <a:r>
              <a:t>14. Cá sặc rằn một nắng Bến Tre (Gói 500g) - 140.000 đ</a:t>
            </a:r>
          </a:p>
          <a:p>
            <a:pPr>
              <a:spcBef>
                <a:spcPts val="300"/>
              </a:spcBef>
              <a:defRPr sz="1000">
                <a:solidFill>
                  <a:srgbClr val="1E293B"/>
                </a:solidFill>
              </a:defRPr>
            </a:pPr>
            <a:r>
              <a:t>15. Khô cá lóc đồng ướp tiêu sọ (Gói 500g) - 150.000 đ</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GIAO DIỆN TRANG CHỦ BÁCH HÓA XANH</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FRONTEND CLIENT</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7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PHONG CÁCH NHẬN DIỆN CHUỖI SIÊU THỊ</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Header nhận diện xanh lá đặc trưng (#008848) mang lại cảm giác tươi mới, chuẩn vệ sinh an toàn thực phẩm.</a:t>
            </a:r>
          </a:p>
          <a:p>
            <a:pPr>
              <a:spcBef>
                <a:spcPts val="700"/>
              </a:spcBef>
              <a:defRPr sz="1100">
                <a:solidFill>
                  <a:srgbClr val="1E293B"/>
                </a:solidFill>
              </a:defRPr>
            </a:pPr>
            <a:r>
              <a:t>• Thanh tìm kiếm trung tâm dạng bo tròn, gợi ý tìm nhanh các món đặc sản theo tên hoặc làng nghề.</a:t>
            </a:r>
          </a:p>
          <a:p>
            <a:pPr>
              <a:spcBef>
                <a:spcPts val="700"/>
              </a:spcBef>
              <a:defRPr sz="1100">
                <a:solidFill>
                  <a:srgbClr val="1E293B"/>
                </a:solidFill>
              </a:defRPr>
            </a:pPr>
            <a:r>
              <a:t>• Nút Giỏ Hàng màu vàng chanh (#FCD535) hiển thị tức thời số lượng món và tổng tiền thanh toán.</a:t>
            </a:r>
          </a:p>
          <a:p>
            <a:pPr>
              <a:spcBef>
                <a:spcPts val="700"/>
              </a:spcBef>
              <a:defRPr sz="1100">
                <a:solidFill>
                  <a:srgbClr val="1E293B"/>
                </a:solidFill>
              </a:defRPr>
            </a:pPr>
            <a:r>
              <a:t>• Thanh Category Chips phân loại nhanh 4 ngành hàng nổi bật với icon trực quan sinh động.</a:t>
            </a:r>
          </a:p>
          <a:p>
            <a:pPr>
              <a:spcBef>
                <a:spcPts val="700"/>
              </a:spcBef>
              <a:defRPr sz="1100">
                <a:solidFill>
                  <a:srgbClr val="1E293B"/>
                </a:solidFill>
              </a:defRPr>
            </a:pPr>
            <a:r>
              <a:t>• Khối Flash Sale đếm ngược thời gian thực rực rỡ màu đỏ (#EA1E25) kích thích tỷ lệ chuyển đổi mua hàng.</a:t>
            </a:r>
          </a:p>
          <a:p>
            <a:pPr>
              <a:spcBef>
                <a:spcPts val="700"/>
              </a:spcBef>
              <a:defRPr sz="1100">
                <a:solidFill>
                  <a:srgbClr val="1E293B"/>
                </a:solidFill>
              </a:defRPr>
            </a:pPr>
            <a:r>
              <a:t>• Lưới sản phẩm 4 cột chuẩn TMĐT, hỗ trợ nút 'CHỌN MUA +' để bỏ giỏ nhanh mà không cần rời trang.</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Áp dụng CSS Grid hiện đại, tối ưu chuẩn Responsive hiển thị mượt mà trên cả Desktop, Tablet và Mobile.</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1_trang_chu_bhx.png"/>
          <p:cNvPicPr>
            <a:picLocks noChangeAspect="1"/>
          </p:cNvPicPr>
          <p:nvPr/>
        </p:nvPicPr>
        <p:blipFill>
          <a:blip r:embed="rId2"/>
          <a:stretch>
            <a:fillRect/>
          </a:stretch>
        </p:blipFill>
        <p:spPr>
          <a:xfrm>
            <a:off x="5833872" y="1444752"/>
            <a:ext cx="5504688" cy="4231276"/>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01_trang_chu_bhx.png (Nguồn: Hệ thống thử nghiệm đồ án)</a:t>
            </a:r>
          </a:p>
        </p:txBody>
      </p:sp>
    </p:spTree>
  </p:cSld>
  <p:clrMapOvr>
    <a:masterClrMapping/>
  </p:clrMapOvr>
  <p:transition spd="med">
    <p:push dir="l"/>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GIAO DIỆN CỬA HÀNG 15 SẢN PHẨM OCOP</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DANH MỤC TMĐT</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8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HIỂN THỊ LƯỚI SẢN PHẨM &amp; BỘ LỌC THÔNG MINH</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Hiển thị đầy đủ 15 sản phẩm chế biến đặc sản Bến Tre với hình chụp bao bì thực tế tỉ lệ vuông 1:1 chuẩn TMĐT.</a:t>
            </a:r>
          </a:p>
          <a:p>
            <a:pPr>
              <a:spcBef>
                <a:spcPts val="700"/>
              </a:spcBef>
              <a:defRPr sz="1100">
                <a:solidFill>
                  <a:srgbClr val="1E293B"/>
                </a:solidFill>
              </a:defRPr>
            </a:pPr>
            <a:r>
              <a:t>• Tích hợp tem chứng nhận OCOP Bến Tre trên từng sản phẩm, tạo sự tin cậy tuyệt đối về chất lượng và xuất xứ.</a:t>
            </a:r>
          </a:p>
          <a:p>
            <a:pPr>
              <a:spcBef>
                <a:spcPts val="700"/>
              </a:spcBef>
              <a:defRPr sz="1100">
                <a:solidFill>
                  <a:srgbClr val="1E293B"/>
                </a:solidFill>
              </a:defRPr>
            </a:pPr>
            <a:r>
              <a:t>• Bộ lọc và thanh sắp xếp đa tiêu chí: Sắp xếp theo giá tăng dần/giảm dần, mức độ phổ biến và đánh giá mới nhất.</a:t>
            </a:r>
          </a:p>
          <a:p>
            <a:pPr>
              <a:spcBef>
                <a:spcPts val="700"/>
              </a:spcBef>
              <a:defRPr sz="1100">
                <a:solidFill>
                  <a:srgbClr val="1E293B"/>
                </a:solidFill>
              </a:defRPr>
            </a:pPr>
            <a:r>
              <a:t>• Hiển thị song song giá bán khuyến mãi màu đỏ nổi bật và giá gốc gạch ngang minh bạch.</a:t>
            </a:r>
          </a:p>
          <a:p>
            <a:pPr>
              <a:spcBef>
                <a:spcPts val="700"/>
              </a:spcBef>
              <a:defRPr sz="1100">
                <a:solidFill>
                  <a:srgbClr val="1E293B"/>
                </a:solidFill>
              </a:defRPr>
            </a:pPr>
            <a:r>
              <a:t>• Huy hiệu giảm giá 'SALE!' đỏ ở góc trên giúp khách hàng dễ dàng nhận diện các món đang có ưu đãi.</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Cơ chế phân trang tự động của WooCommerce, tối ưu câu truy vấn MySQL giúp tải trang cực nhanh (&lt; 0.5s).</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2_cua_hang_san_pham.png"/>
          <p:cNvPicPr>
            <a:picLocks noChangeAspect="1"/>
          </p:cNvPicPr>
          <p:nvPr/>
        </p:nvPicPr>
        <p:blipFill>
          <a:blip r:embed="rId2"/>
          <a:stretch>
            <a:fillRect/>
          </a:stretch>
        </p:blipFill>
        <p:spPr>
          <a:xfrm>
            <a:off x="5833872" y="1444752"/>
            <a:ext cx="5504688" cy="4231276"/>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02_cua_hang_san_pham.png (Nguồn: Hệ thống thử nghiệm đồ án)</a:t>
            </a:r>
          </a:p>
        </p:txBody>
      </p:sp>
    </p:spTree>
  </p:cSld>
  <p:clrMapOvr>
    <a:masterClrMapping/>
  </p:clrMapOvr>
  <p:transition spd="med">
    <p:push dir="l"/>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GIAO DIỆN TRANG CHI TIẾT SẢN PHẨM</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TRẢI NGHIỆM CHI TIẾT</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9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MINH BẠCH THÔNG TIN NGUỒN GỐC XUẤT XỨ</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Hình ảnh sản phẩm độ phân giải cao, hỗ trợ phóng to (lightbox) để người mua kiểm tra chi tiết bao bì thực phẩm.</a:t>
            </a:r>
          </a:p>
          <a:p>
            <a:pPr>
              <a:spcBef>
                <a:spcPts val="700"/>
              </a:spcBef>
              <a:defRPr sz="1100">
                <a:solidFill>
                  <a:srgbClr val="1E293B"/>
                </a:solidFill>
              </a:defRPr>
            </a:pPr>
            <a:r>
              <a:t>• Công bố rõ ràng xuất xứ làng nghề truyền thống: Lò nem Bến Tre, Bánh tráng Mỹ Lồng, Bánh phồng Sơn Đốc, Khô Ba Tri.</a:t>
            </a:r>
          </a:p>
          <a:p>
            <a:pPr>
              <a:spcBef>
                <a:spcPts val="700"/>
              </a:spcBef>
              <a:defRPr sz="1100">
                <a:solidFill>
                  <a:srgbClr val="1E293B"/>
                </a:solidFill>
              </a:defRPr>
            </a:pPr>
            <a:r>
              <a:t>• Mô tả quy cách đóng gói, hạn sử dụng, điều kiện bảo quản và chứng nhận Vệ sinh An toàn Thực phẩm (VSATTP).</a:t>
            </a:r>
          </a:p>
          <a:p>
            <a:pPr>
              <a:spcBef>
                <a:spcPts val="700"/>
              </a:spcBef>
              <a:defRPr sz="1100">
                <a:solidFill>
                  <a:srgbClr val="1E293B"/>
                </a:solidFill>
              </a:defRPr>
            </a:pPr>
            <a:r>
              <a:t>• Công cụ điều chỉnh số lượng mua nhanh chóng và nút 'THÊM VÀO GIỎ HÀNG' to bản, dễ thao tác.</a:t>
            </a:r>
          </a:p>
          <a:p>
            <a:pPr>
              <a:spcBef>
                <a:spcPts val="700"/>
              </a:spcBef>
              <a:defRPr sz="1100">
                <a:solidFill>
                  <a:srgbClr val="1E293B"/>
                </a:solidFill>
              </a:defRPr>
            </a:pPr>
            <a:r>
              <a:t>• Hệ thống tab bổ sung: Thông tin thành phần dinh dưỡng, hướng dẫn sử dụng và đánh giá thực tế từ khách hàng.</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Schema.org Product Rich Snippet giúp công cụ tìm kiếm Google lập chỉ mục giá bán và tình trạng còn hàng tự động.</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7_chi_tiet_nem_chua.png"/>
          <p:cNvPicPr>
            <a:picLocks noChangeAspect="1"/>
          </p:cNvPicPr>
          <p:nvPr/>
        </p:nvPicPr>
        <p:blipFill>
          <a:blip r:embed="rId2"/>
          <a:stretch>
            <a:fillRect/>
          </a:stretch>
        </p:blipFill>
        <p:spPr>
          <a:xfrm>
            <a:off x="5833872" y="1444752"/>
            <a:ext cx="5504688" cy="4231276"/>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07_chi_tiet_nem_chua.png (Nguồn: Hệ thống thử nghiệm đồ án)</a:t>
            </a:r>
          </a:p>
        </p:txBody>
      </p:sp>
    </p:spTree>
  </p:cSld>
  <p:clrMapOvr>
    <a:masterClrMapping/>
  </p:clrMapOvr>
  <p:transition spd="med">
    <p:push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GIAO DIỆN GIỎ HÀNG &amp; MÃ GIẢM GIÁ</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QUY TRÌNH MUA HÀNG</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10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TÍNH TOÁN MINH BẠCH &amp; TỐI ƯU TRẢI NGHIỆM</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Bảng tóm tắt danh sách sản phẩm đã chọn: Ảnh thu nhỏ, tên món, đơn giá, ô nhập số lượng và tổng phụ tương ứng.</a:t>
            </a:r>
          </a:p>
          <a:p>
            <a:pPr>
              <a:spcBef>
                <a:spcPts val="700"/>
              </a:spcBef>
              <a:defRPr sz="1100">
                <a:solidFill>
                  <a:srgbClr val="1E293B"/>
                </a:solidFill>
              </a:defRPr>
            </a:pPr>
            <a:r>
              <a:t>• Tự động cập nhật tổng tiền thanh toán ngay khi khách hàng tăng/giảm số lượng hoặc xóa sản phẩm khỏi giỏ.</a:t>
            </a:r>
          </a:p>
          <a:p>
            <a:pPr>
              <a:spcBef>
                <a:spcPts val="700"/>
              </a:spcBef>
              <a:defRPr sz="1100">
                <a:solidFill>
                  <a:srgbClr val="1E293B"/>
                </a:solidFill>
              </a:defRPr>
            </a:pPr>
            <a:r>
              <a:t>• Ô nhập mã ưu đãi (Coupon) giảm giá linh hoạt, áp dụng chiết khấu tức thì vào tổng tiền đơn hàng.</a:t>
            </a:r>
          </a:p>
          <a:p>
            <a:pPr>
              <a:spcBef>
                <a:spcPts val="700"/>
              </a:spcBef>
              <a:defRPr sz="1100">
                <a:solidFill>
                  <a:srgbClr val="1E293B"/>
                </a:solidFill>
              </a:defRPr>
            </a:pPr>
            <a:r>
              <a:t>• Khối tính toán tạm tính (Cart Totals): Hiển thị chi tiết tiền hàng, số tiền giảm giá và dự tính phí vận chuyển.</a:t>
            </a:r>
          </a:p>
          <a:p>
            <a:pPr>
              <a:spcBef>
                <a:spcPts val="700"/>
              </a:spcBef>
              <a:defRPr sz="1100">
                <a:solidFill>
                  <a:srgbClr val="1E293B"/>
                </a:solidFill>
              </a:defRPr>
            </a:pPr>
            <a:r>
              <a:t>• Nút 'TIẾN HÀNH THANH TOÁN' nổi bật dẫn thẳng tới trang điền thông tin giao hàng một cách liền mạch.</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Sử dụng kỹ thuật AJAX cập nhật giỏ hàng ngầm mà không cần tải lại toàn bộ trang, giúp tiết kiệm băng thông.</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5_gio_hang_co_san_pham.png"/>
          <p:cNvPicPr>
            <a:picLocks noChangeAspect="1"/>
          </p:cNvPicPr>
          <p:nvPr/>
        </p:nvPicPr>
        <p:blipFill>
          <a:blip r:embed="rId2"/>
          <a:stretch>
            <a:fillRect/>
          </a:stretch>
        </p:blipFill>
        <p:spPr>
          <a:xfrm>
            <a:off x="5833872" y="1444752"/>
            <a:ext cx="5504688" cy="3626808"/>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05_gio_hang_co_san_pham.png (Nguồn: Hệ thống thử nghiệm đồ án)</a:t>
            </a:r>
          </a:p>
        </p:txBody>
      </p:sp>
    </p:spTree>
  </p:cSld>
  <p:clrMapOvr>
    <a:masterClrMapping/>
  </p:clrMapOvr>
  <p:transition spd="med">
    <p:push dir="l"/>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GIAO DIỆN ĐẶT HÀNG &amp; THANH TOÁN COD</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THANH TOÁN TIỆN LỢI</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11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FORM GIAO HÀNG CHUẨN HÓA CHO NGƯỜI VIỆT</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Biểu mẫu thanh toán tinh gọn: Họ và tên người nhận, số điện thoại liên hệ, địa chỉ giao nhận hàng tại Việt Nam.</a:t>
            </a:r>
          </a:p>
          <a:p>
            <a:pPr>
              <a:spcBef>
                <a:spcPts val="700"/>
              </a:spcBef>
              <a:defRPr sz="1100">
                <a:solidFill>
                  <a:srgbClr val="1E293B"/>
                </a:solidFill>
              </a:defRPr>
            </a:pPr>
            <a:r>
              <a:t>• Bảng tóm tắt đơn hàng bên phải: Liệt kê chi tiết danh sách món ăn, số lượng và tổng số tiền cần thanh toán.</a:t>
            </a:r>
          </a:p>
          <a:p>
            <a:pPr>
              <a:spcBef>
                <a:spcPts val="700"/>
              </a:spcBef>
              <a:defRPr sz="1100">
                <a:solidFill>
                  <a:srgbClr val="1E293B"/>
                </a:solidFill>
              </a:defRPr>
            </a:pPr>
            <a:r>
              <a:t>• Tích hợp 2 phương thức thanh toán phổ biến nhất: COD (Thanh toán tiền mặt khi nhận hàng) và Chuyển khoản ngân hàng.</a:t>
            </a:r>
          </a:p>
          <a:p>
            <a:pPr>
              <a:spcBef>
                <a:spcPts val="700"/>
              </a:spcBef>
              <a:defRPr sz="1100">
                <a:solidFill>
                  <a:srgbClr val="1E293B"/>
                </a:solidFill>
              </a:defRPr>
            </a:pPr>
            <a:r>
              <a:t>• Hướng dẫn chuyển khoản rõ ràng: Tên tài khoản, số tài khoản ngân hàng và cú pháp ghi nội dung chuyển khoản.</a:t>
            </a:r>
          </a:p>
          <a:p>
            <a:pPr>
              <a:spcBef>
                <a:spcPts val="700"/>
              </a:spcBef>
              <a:defRPr sz="1100">
                <a:solidFill>
                  <a:srgbClr val="1E293B"/>
                </a:solidFill>
              </a:defRPr>
            </a:pPr>
            <a:r>
              <a:t>• Nhấn nút 'ĐẶT HÀNG' để ghi nhận đơn vào CSDL MySQL và gửi thông báo đơn hàng cho quản trị viên.</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Kiểm tra tính hợp lệ dữ liệu (Form Validation) bằng JavaScript: Bắt buộc điền đúng số điện thoại và địa chỉ giao hàng.</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6_thanh_toan_dien_form.png"/>
          <p:cNvPicPr>
            <a:picLocks noChangeAspect="1"/>
          </p:cNvPicPr>
          <p:nvPr/>
        </p:nvPicPr>
        <p:blipFill>
          <a:blip r:embed="rId2"/>
          <a:stretch>
            <a:fillRect/>
          </a:stretch>
        </p:blipFill>
        <p:spPr>
          <a:xfrm>
            <a:off x="5833872" y="1444752"/>
            <a:ext cx="5504688" cy="3626808"/>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06_thanh_toan_dien_form.png (Nguồn: Hệ thống thử nghiệm đồ án)</a:t>
            </a:r>
          </a:p>
        </p:txBody>
      </p:sp>
    </p:spTree>
  </p:cSld>
  <p:clrMapOvr>
    <a:masterClrMapping/>
  </p:clrMapOvr>
  <p:transition spd="med">
    <p:push dir="l"/>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BẢNG ĐIỀU KHIỂN QUẢN TRỊ (ADMIN)</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BACKEND DASHBOARD</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12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TRUNG TÂM KIỂM SOÁT HỆ THỐNG TOÀN DIỆN</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Giao diện quản trị WordPress 6.8 ngôn ngữ tiếng Việt thân thiện, bảo mật bằng phiên đăng nhập mã hóa an toàn.</a:t>
            </a:r>
          </a:p>
          <a:p>
            <a:pPr>
              <a:spcBef>
                <a:spcPts val="700"/>
              </a:spcBef>
              <a:defRPr sz="1100">
                <a:solidFill>
                  <a:srgbClr val="1E293B"/>
                </a:solidFill>
              </a:defRPr>
            </a:pPr>
            <a:r>
              <a:t>• Theo dõi trạng thái máy chủ LAMP Stack: Phiên bản PHP 8.1, Apache, dung lượng CSDL và mức tải tài nguyên.</a:t>
            </a:r>
          </a:p>
          <a:p>
            <a:pPr>
              <a:spcBef>
                <a:spcPts val="700"/>
              </a:spcBef>
              <a:defRPr sz="1100">
                <a:solidFill>
                  <a:srgbClr val="1E293B"/>
                </a:solidFill>
              </a:defRPr>
            </a:pPr>
            <a:r>
              <a:t>• Menu điều hướng phân quyền chặt chẽ: Quản lý WooCommerce, Danh mục Sản phẩm, Đơn hàng, Phản hồi khách hàng.</a:t>
            </a:r>
          </a:p>
          <a:p>
            <a:pPr>
              <a:spcBef>
                <a:spcPts val="700"/>
              </a:spcBef>
              <a:defRPr sz="1100">
                <a:solidFill>
                  <a:srgbClr val="1E293B"/>
                </a:solidFill>
              </a:defRPr>
            </a:pPr>
            <a:r>
              <a:t>• Khu vực tùy biến giao diện CSS: Tùy chỉnh màu sắc thương hiệu Bách Hóa Xanh và vị trí các khối banner dễ dàng.</a:t>
            </a:r>
          </a:p>
          <a:p>
            <a:pPr>
              <a:spcBef>
                <a:spcPts val="700"/>
              </a:spcBef>
              <a:defRPr sz="1100">
                <a:solidFill>
                  <a:srgbClr val="1E293B"/>
                </a:solidFill>
              </a:defRPr>
            </a:pPr>
            <a:r>
              <a:t>• Khả năng mở rộng phân quyền: Quản trị viên tối cao (Administrator), Quản lý cửa hàng (Shop Manager) và Nhân viên kho.</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Bảo mật tài khoản với cơ chế băm mật khẩu bcrypt và ngăn chặn các cuộc tấn công Brute-Force vào trang wp-login.php.</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8_quan_tri_dashboard.png"/>
          <p:cNvPicPr>
            <a:picLocks noChangeAspect="1"/>
          </p:cNvPicPr>
          <p:nvPr/>
        </p:nvPicPr>
        <p:blipFill>
          <a:blip r:embed="rId2"/>
          <a:stretch>
            <a:fillRect/>
          </a:stretch>
        </p:blipFill>
        <p:spPr>
          <a:xfrm>
            <a:off x="5833872" y="1444752"/>
            <a:ext cx="5504688" cy="3626808"/>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08_quan_tri_dashboard.png (Nguồn: Hệ thống thử nghiệm đồ án)</a:t>
            </a:r>
          </a:p>
        </p:txBody>
      </p:sp>
    </p:spTree>
  </p:cSld>
  <p:clrMapOvr>
    <a:masterClrMapping/>
  </p:clrMapOvr>
  <p:transition spd="med">
    <p:push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QUẢN TRỊ DANH MỤC 15 SẢN PHẨM</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QUẢN LÝ KHO HÀNG</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13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KIỂM SOÁT DỮ LIỆU SẢN PHẨM &amp; GIÁ BÁN</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Bảng danh sách toàn bộ 15 sản phẩm thực phẩm Bến Tre kèm ảnh thumbnail, mã định danh SKU và trạng thái còn hàng.</a:t>
            </a:r>
          </a:p>
          <a:p>
            <a:pPr>
              <a:spcBef>
                <a:spcPts val="700"/>
              </a:spcBef>
              <a:defRPr sz="1100">
                <a:solidFill>
                  <a:srgbClr val="1E293B"/>
                </a:solidFill>
              </a:defRPr>
            </a:pPr>
            <a:r>
              <a:t>• Quản lý giá bán linh hoạt: Thiết lập giá gốc, giá khuyến mãi (Sale Price) theo từng giai đoạn kích cầu.</a:t>
            </a:r>
          </a:p>
          <a:p>
            <a:pPr>
              <a:spcBef>
                <a:spcPts val="700"/>
              </a:spcBef>
              <a:defRPr sz="1100">
                <a:solidFill>
                  <a:srgbClr val="1E293B"/>
                </a:solidFill>
              </a:defRPr>
            </a:pPr>
            <a:r>
              <a:t>• Phân loại danh mục đa cấp (Đặc sản Dừa, Bánh kẹo truyền thống, Mứt sấy dẻo, Thủy sản khô) và gắn tag OCOP Bến Tre.</a:t>
            </a:r>
          </a:p>
          <a:p>
            <a:pPr>
              <a:spcBef>
                <a:spcPts val="700"/>
              </a:spcBef>
              <a:defRPr sz="1100">
                <a:solidFill>
                  <a:srgbClr val="1E293B"/>
                </a:solidFill>
              </a:defRPr>
            </a:pPr>
            <a:r>
              <a:t>• Tính năng Sửa nhanh (Quick Edit): Cập nhật giá, số lượng tồn kho và trạng thái hiển thị ngay trên bảng mà không cần tải lại.</a:t>
            </a:r>
          </a:p>
          <a:p>
            <a:pPr>
              <a:spcBef>
                <a:spcPts val="700"/>
              </a:spcBef>
              <a:defRPr sz="1100">
                <a:solidFill>
                  <a:srgbClr val="1E293B"/>
                </a:solidFill>
              </a:defRPr>
            </a:pPr>
            <a:r>
              <a:t>• Tích hợp thư viện media quản lý hình ảnh sản phẩm tập trung trên máy chủ Apache.</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Dữ liệu sản phẩm được tổ chức chuẩn hóa trong các bảng wp_posts và wp_postmeta của CSDL MySQL 8.0.</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9_quan_tri_danh_sach_san_pham.png"/>
          <p:cNvPicPr>
            <a:picLocks noChangeAspect="1"/>
          </p:cNvPicPr>
          <p:nvPr/>
        </p:nvPicPr>
        <p:blipFill>
          <a:blip r:embed="rId2"/>
          <a:stretch>
            <a:fillRect/>
          </a:stretch>
        </p:blipFill>
        <p:spPr>
          <a:xfrm>
            <a:off x="5833872" y="1444752"/>
            <a:ext cx="5504688" cy="3626808"/>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09_quan_tri_danh_sach_san_pham.png (Nguồn: Hệ thống thử nghiệm đồ án)</a:t>
            </a:r>
          </a:p>
        </p:txBody>
      </p:sp>
    </p:spTree>
  </p:cSld>
  <p:clrMapOvr>
    <a:masterClrMapping/>
  </p:clrMapOvr>
  <p:transition spd="med">
    <p:push dir="l"/>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QUẢN TRỊ ĐƠN HÀNG TRỰC TUYẾN</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VẬN HÀNH ĐƠN HÀNG</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14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XỬ LÝ ĐƠN HÀNG &amp; THEO DÕI VÒNG ĐỜI</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Cập nhật thời gian thực ngay khi khách hàng nhấn 'Đặt hàng' từ giao diện bên ngoài website.</a:t>
            </a:r>
          </a:p>
          <a:p>
            <a:pPr>
              <a:spcBef>
                <a:spcPts val="700"/>
              </a:spcBef>
              <a:defRPr sz="1100">
                <a:solidFill>
                  <a:srgbClr val="1E293B"/>
                </a:solidFill>
              </a:defRPr>
            </a:pPr>
            <a:r>
              <a:t>• Hiển thị đầy đủ thông tin: Mã số đơn hàng, họ tên khách hàng, số điện thoại, tổng tiền và phương thức (COD/Chuyển khoản).</a:t>
            </a:r>
          </a:p>
          <a:p>
            <a:pPr>
              <a:spcBef>
                <a:spcPts val="700"/>
              </a:spcBef>
              <a:defRPr sz="1100">
                <a:solidFill>
                  <a:srgbClr val="1E293B"/>
                </a:solidFill>
              </a:defRPr>
            </a:pPr>
            <a:r>
              <a:t>• Quản lý trạng thái vòng đời đơn hàng: Tạm giữ -&gt; Đang xử lý -&gt; Đang giao hàng -&gt; Đã hoàn thành -&gt; Đã hủy đơn.</a:t>
            </a:r>
          </a:p>
          <a:p>
            <a:pPr>
              <a:spcBef>
                <a:spcPts val="700"/>
              </a:spcBef>
              <a:defRPr sz="1100">
                <a:solidFill>
                  <a:srgbClr val="1E293B"/>
                </a:solidFill>
              </a:defRPr>
            </a:pPr>
            <a:r>
              <a:t>• Tự động trừ số lượng sản phẩm trong kho khi đơn hàng được xác nhận thành công.</a:t>
            </a:r>
          </a:p>
          <a:p>
            <a:pPr>
              <a:spcBef>
                <a:spcPts val="700"/>
              </a:spcBef>
              <a:defRPr sz="1100">
                <a:solidFill>
                  <a:srgbClr val="1E293B"/>
                </a:solidFill>
              </a:defRPr>
            </a:pPr>
            <a:r>
              <a:t>• Hỗ trợ in phiếu đóng gói và hóa đơn giao hàng gửi cho đơn vị vận chuyển (Bưu điện, Viettel Post, GHTK).</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Mỗi thay đổi trạng thái đơn hàng đều được lưu vết chi tiết trong Order Notes, đảm bảo tính minh bạch đối soát.</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0_quan_tri_don_hang.png"/>
          <p:cNvPicPr>
            <a:picLocks noChangeAspect="1"/>
          </p:cNvPicPr>
          <p:nvPr/>
        </p:nvPicPr>
        <p:blipFill>
          <a:blip r:embed="rId2"/>
          <a:stretch>
            <a:fillRect/>
          </a:stretch>
        </p:blipFill>
        <p:spPr>
          <a:xfrm>
            <a:off x="5833872" y="1444752"/>
            <a:ext cx="5504688" cy="3626808"/>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10_quan_tri_don_hang.png (Nguồn: Hệ thống thử nghiệm đồ án)</a:t>
            </a:r>
          </a:p>
        </p:txBody>
      </p:sp>
    </p:spTree>
  </p:cSld>
  <p:clrMapOvr>
    <a:masterClrMapping/>
  </p:clrMapOvr>
  <p:transition spd="med">
    <p:push dir="l"/>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QUY TRÌNH SAO LƯU &amp; PHỤC HỒI QUA XSHELL</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AN TOÀN DỮ LIỆU</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15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TỰ ĐỘNG HÓA DÒNG LỆNH BẰNG BASH SCRIPT</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Kết nối giao thức SSH bảo mật cao cổng 2222 từ Windows Host tới máy chủ Ubuntu Server 22.04 LTS.</a:t>
            </a:r>
          </a:p>
          <a:p>
            <a:pPr>
              <a:spcBef>
                <a:spcPts val="700"/>
              </a:spcBef>
              <a:defRPr sz="1100">
                <a:solidFill>
                  <a:srgbClr val="1E293B"/>
                </a:solidFill>
              </a:defRPr>
            </a:pPr>
            <a:r>
              <a:t>• Kịch bản sao lưu tự động (/home/bentre/backup.sh):</a:t>
            </a:r>
          </a:p>
          <a:p>
            <a:pPr>
              <a:spcBef>
                <a:spcPts val="700"/>
              </a:spcBef>
              <a:defRPr sz="1100">
                <a:solidFill>
                  <a:srgbClr val="1E293B"/>
                </a:solidFill>
              </a:defRPr>
            </a:pPr>
            <a:r>
              <a:t>•   + Trích xuất CSDL: Sử dụng mysqldump tạo tệp db_thucpham_*.sql (~1.4 MB) chứa toàn bộ bảng dữ liệu.</a:t>
            </a:r>
          </a:p>
          <a:p>
            <a:pPr>
              <a:spcBef>
                <a:spcPts val="700"/>
              </a:spcBef>
              <a:defRPr sz="1100">
                <a:solidFill>
                  <a:srgbClr val="1E293B"/>
                </a:solidFill>
              </a:defRPr>
            </a:pPr>
            <a:r>
              <a:t>•   + Nén mã nguồn web: Sử dụng tar czf nén toàn bộ thư mục /var/www/html thành files_thucpham_*.tar.gz (~70 MB).</a:t>
            </a:r>
          </a:p>
          <a:p>
            <a:pPr>
              <a:spcBef>
                <a:spcPts val="700"/>
              </a:spcBef>
              <a:defRPr sz="1100">
                <a:solidFill>
                  <a:srgbClr val="1E293B"/>
                </a:solidFill>
              </a:defRPr>
            </a:pPr>
            <a:r>
              <a:t>• Kịch bản phục hồi thảm họa (/home/bentre/restore.sh):</a:t>
            </a:r>
          </a:p>
          <a:p>
            <a:pPr>
              <a:spcBef>
                <a:spcPts val="700"/>
              </a:spcBef>
              <a:defRPr sz="1100">
                <a:solidFill>
                  <a:srgbClr val="1E293B"/>
                </a:solidFill>
              </a:defRPr>
            </a:pPr>
            <a:r>
              <a:t>•   + Tự động xóa sạch CSDL cũ, tạo mới CSDL thucpham_bentree và nạp lại từ bản sao lưu SQL.</a:t>
            </a:r>
          </a:p>
          <a:p>
            <a:pPr>
              <a:spcBef>
                <a:spcPts val="700"/>
              </a:spcBef>
              <a:defRPr sz="1100">
                <a:solidFill>
                  <a:srgbClr val="1E293B"/>
                </a:solidFill>
              </a:defRPr>
            </a:pPr>
            <a:r>
              <a:t>•   + Giải nén tệp tar.gz đè lại mã nguồn, phân quyền www-data:www-data và kiểm tra HTTP 200 OK.</a:t>
            </a:r>
          </a:p>
          <a:p>
            <a:pPr>
              <a:spcBef>
                <a:spcPts val="700"/>
              </a:spcBef>
              <a:defRPr sz="1100">
                <a:solidFill>
                  <a:srgbClr val="1E293B"/>
                </a:solidFill>
              </a:defRPr>
            </a:pPr>
            <a:r>
              <a:t>• Thời gian phục hồi khẩn cấp cực nhanh: Chỉ mất chưa đầy 15 giây để website hoạt động trở lại bình thường.</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Toàn bộ quy trình sao lưu và phục hồi được tự động hóa 100% bằng shell script, loại bỏ hoàn toàn sai sót do con người.</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1_xshell_sao_luu_phuc_hoi.png"/>
          <p:cNvPicPr>
            <a:picLocks noChangeAspect="1"/>
          </p:cNvPicPr>
          <p:nvPr/>
        </p:nvPicPr>
        <p:blipFill>
          <a:blip r:embed="rId2"/>
          <a:stretch>
            <a:fillRect/>
          </a:stretch>
        </p:blipFill>
        <p:spPr>
          <a:xfrm>
            <a:off x="5833872" y="1444752"/>
            <a:ext cx="5504688" cy="3440430"/>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11_xshell_sao_luu_phuc_hoi.png (Nguồn: Hệ thống thử nghiệm đồ án)</a:t>
            </a:r>
          </a:p>
        </p:txBody>
      </p:sp>
    </p:spTree>
  </p:cSld>
  <p:clrMapOvr>
    <a:masterClrMapping/>
  </p:clrMapOvr>
  <p:transition spd="med">
    <p:push dir="l"/>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5: MINH HỌA GIAO DIỆN HỆ THỐNG</a:t>
            </a:r>
          </a:p>
          <a:p>
            <a:pPr>
              <a:spcBef>
                <a:spcPts val="200"/>
              </a:spcBef>
              <a:defRPr sz="2000" b="1">
                <a:solidFill>
                  <a:srgbClr val="FFFFFF"/>
                </a:solidFill>
              </a:defRPr>
            </a:pPr>
            <a:r>
              <a:t>LƯU TRỮ NGOẠI VI &amp; TRUYỀN TỆP QUA XFTP</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LƯU TRỮ NGOẠI VI</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16 / 20</a:t>
            </a:r>
          </a:p>
        </p:txBody>
      </p:sp>
      <p:sp>
        <p:nvSpPr>
          <p:cNvPr id="10" name="Rounded Rectangle 9"/>
          <p:cNvSpPr/>
          <p:nvPr/>
        </p:nvSpPr>
        <p:spPr>
          <a:xfrm>
            <a:off x="731520" y="1325880"/>
            <a:ext cx="4754880" cy="493776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508760"/>
            <a:ext cx="4297680" cy="50292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CD535"/>
                </a:solidFill>
              </a:defRPr>
            </a:pPr>
            <a:r>
              <a:t>ĐỒNG BỘ HAI CHIỀU BẢO VỆ DỮ LIỆU ĐA TẦNG</a:t>
            </a:r>
          </a:p>
        </p:txBody>
      </p:sp>
      <p:sp>
        <p:nvSpPr>
          <p:cNvPr id="12" name="TextBox 11"/>
          <p:cNvSpPr txBox="1"/>
          <p:nvPr/>
        </p:nvSpPr>
        <p:spPr>
          <a:xfrm>
            <a:off x="960120" y="2103120"/>
            <a:ext cx="4297680" cy="2743200"/>
          </a:xfrm>
          <a:prstGeom prst="rect">
            <a:avLst/>
          </a:prstGeom>
          <a:noFill/>
        </p:spPr>
        <p:txBody>
          <a:bodyPr wrap="square">
            <a:spAutoFit/>
          </a:bodyPr>
          <a:lstStyle/>
          <a:p>
            <a:pPr>
              <a:spcBef>
                <a:spcPts val="700"/>
              </a:spcBef>
              <a:defRPr sz="1100">
                <a:solidFill>
                  <a:srgbClr val="1E293B"/>
                </a:solidFill>
              </a:defRPr>
            </a:pPr>
            <a:r>
              <a:t>• Giao diện đồ họa trực quan 2 cửa sổ song song: Bên trái là máy tính thật Windows, bên phải là máy chủ ảo Linux.</a:t>
            </a:r>
          </a:p>
          <a:p>
            <a:pPr>
              <a:spcBef>
                <a:spcPts val="700"/>
              </a:spcBef>
              <a:defRPr sz="1100">
                <a:solidFill>
                  <a:srgbClr val="1E293B"/>
                </a:solidFill>
              </a:defRPr>
            </a:pPr>
            <a:r>
              <a:t>• Kết nối giao thức truyền tệp bảo mật SFTP (SSH File Transfer Protocol) qua cổng 2222 với xác thực khóa an toàn.</a:t>
            </a:r>
          </a:p>
          <a:p>
            <a:pPr>
              <a:spcBef>
                <a:spcPts val="700"/>
              </a:spcBef>
              <a:defRPr sz="1100">
                <a:solidFill>
                  <a:srgbClr val="1E293B"/>
                </a:solidFill>
              </a:defRPr>
            </a:pPr>
            <a:r>
              <a:t>• Cơ chế tải về ngoại vi (Off-site Download): Kéo thả 2 tệp sao lưu (.sql và .tar.gz) về ổ cứng máy tính vật lý.</a:t>
            </a:r>
          </a:p>
          <a:p>
            <a:pPr>
              <a:spcBef>
                <a:spcPts val="700"/>
              </a:spcBef>
              <a:defRPr sz="1100">
                <a:solidFill>
                  <a:srgbClr val="1E293B"/>
                </a:solidFill>
              </a:defRPr>
            </a:pPr>
            <a:r>
              <a:t>• Nguyên tắc an toàn dữ liệu 3-2-1: Giữ 1 bản sao trên máy chủ, 1 bản sao lưu trữ tại máy trạm và 1 bản lưu đám mây.</a:t>
            </a:r>
          </a:p>
          <a:p>
            <a:pPr>
              <a:spcBef>
                <a:spcPts val="700"/>
              </a:spcBef>
              <a:defRPr sz="1100">
                <a:solidFill>
                  <a:srgbClr val="1E293B"/>
                </a:solidFill>
              </a:defRPr>
            </a:pPr>
            <a:r>
              <a:t>• Cơ chế tải lên phục hồi (Upload): Kéo bản sao lưu từ máy tính lên thư mục /home/bentre/backups/ khi máy chủ gặp sự cố.</a:t>
            </a:r>
          </a:p>
          <a:p>
            <a:pPr>
              <a:spcBef>
                <a:spcPts val="700"/>
              </a:spcBef>
              <a:defRPr sz="1100">
                <a:solidFill>
                  <a:srgbClr val="1E293B"/>
                </a:solidFill>
              </a:defRPr>
            </a:pPr>
            <a:r>
              <a:t>• Đảm bảo an toàn dữ liệu 100% ngay cả khi máy chủ ảo bị hỏng ổ cứng hoặc bị xóa nhầm.</a:t>
            </a:r>
          </a:p>
        </p:txBody>
      </p:sp>
      <p:sp>
        <p:nvSpPr>
          <p:cNvPr id="13" name="Rounded Rectangle 12"/>
          <p:cNvSpPr/>
          <p:nvPr/>
        </p:nvSpPr>
        <p:spPr>
          <a:xfrm>
            <a:off x="960120" y="4937760"/>
            <a:ext cx="4297680" cy="1097280"/>
          </a:xfrm>
          <a:prstGeom prst="roundRect">
            <a:avLst/>
          </a:prstGeom>
          <a:solidFill>
            <a:srgbClr val="EAF6EE"/>
          </a:solidFill>
          <a:ln w="12700">
            <a:solidFill>
              <a:srgbClr val="0088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5C30"/>
                </a:solidFill>
              </a:defRPr>
            </a:pPr>
            <a:r>
              <a:t>★ ĐẶC ĐIỂM KỸ THUẬT NỔI BẬT:</a:t>
            </a:r>
          </a:p>
          <a:p>
            <a:pPr>
              <a:spcBef>
                <a:spcPts val="300"/>
              </a:spcBef>
              <a:defRPr sz="950">
                <a:solidFill>
                  <a:srgbClr val="1E293B"/>
                </a:solidFill>
              </a:defRPr>
            </a:pPr>
            <a:r>
              <a:t>Giao thức SFTP mã hóa toàn bộ luồng truyền tải dữ liệu bằng thuật toán AES-256, chống nghe lén và đánh cắp thông tin.</a:t>
            </a:r>
          </a:p>
        </p:txBody>
      </p:sp>
      <p:sp>
        <p:nvSpPr>
          <p:cNvPr id="14" name="Rounded Rectangle 13"/>
          <p:cNvSpPr/>
          <p:nvPr/>
        </p:nvSpPr>
        <p:spPr>
          <a:xfrm>
            <a:off x="5715000" y="1325880"/>
            <a:ext cx="5742432" cy="4937760"/>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12_xftp_truyen_file_sftp.png"/>
          <p:cNvPicPr>
            <a:picLocks noChangeAspect="1"/>
          </p:cNvPicPr>
          <p:nvPr/>
        </p:nvPicPr>
        <p:blipFill>
          <a:blip r:embed="rId2"/>
          <a:stretch>
            <a:fillRect/>
          </a:stretch>
        </p:blipFill>
        <p:spPr>
          <a:xfrm>
            <a:off x="5833872" y="1444752"/>
            <a:ext cx="5504688" cy="3440430"/>
          </a:xfrm>
          <a:prstGeom prst="rect">
            <a:avLst/>
          </a:prstGeom>
        </p:spPr>
      </p:pic>
      <p:sp>
        <p:nvSpPr>
          <p:cNvPr id="16" name="Rectangle 15"/>
          <p:cNvSpPr/>
          <p:nvPr/>
        </p:nvSpPr>
        <p:spPr>
          <a:xfrm>
            <a:off x="5715000" y="5897880"/>
            <a:ext cx="5742432" cy="36576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HÌNH MINH HỌA: 12_xftp_truyen_file_sftp.png (Nguồn: Hệ thống thử nghiệm đồ án)</a:t>
            </a:r>
          </a:p>
        </p:txBody>
      </p:sp>
    </p:spTree>
  </p:cSld>
  <p:clrMapOvr>
    <a:masterClrMapping/>
  </p:clrMapOvr>
  <p:transition spd="med">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7: TỔNG KẾT ĐÁNH GIÁ</a:t>
            </a:r>
          </a:p>
          <a:p>
            <a:pPr>
              <a:spcBef>
                <a:spcPts val="200"/>
              </a:spcBef>
              <a:defRPr sz="2000" b="1">
                <a:solidFill>
                  <a:srgbClr val="FFFFFF"/>
                </a:solidFill>
              </a:defRPr>
            </a:pPr>
            <a:r>
              <a:t>BẢNG ĐÁNH GIÁ &amp; NGHIỆM THU KẾT QUẢ ĐỒ ÁN</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17 / 20</a:t>
            </a:r>
          </a:p>
        </p:txBody>
      </p:sp>
      <p:sp>
        <p:nvSpPr>
          <p:cNvPr id="10" name="Rounded Rectangle 9"/>
          <p:cNvSpPr/>
          <p:nvPr/>
        </p:nvSpPr>
        <p:spPr>
          <a:xfrm>
            <a:off x="731520" y="137160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784080" y="149961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12" name="TextBox 11"/>
          <p:cNvSpPr txBox="1"/>
          <p:nvPr/>
        </p:nvSpPr>
        <p:spPr>
          <a:xfrm>
            <a:off x="914400" y="1444752"/>
            <a:ext cx="8686800" cy="566928"/>
          </a:xfrm>
          <a:prstGeom prst="rect">
            <a:avLst/>
          </a:prstGeom>
          <a:noFill/>
        </p:spPr>
        <p:txBody>
          <a:bodyPr wrap="square">
            <a:spAutoFit/>
          </a:bodyPr>
          <a:lstStyle/>
          <a:p>
            <a:r>
              <a:rPr b="1" sz="1200">
                <a:solidFill>
                  <a:srgbClr val="1E293B"/>
                </a:solidFill>
              </a:rPr>
              <a:t>1. Hạ tầng máy chủ ảo LAMP Stack  </a:t>
            </a:r>
          </a:p>
          <a:p>
            <a:pPr>
              <a:spcBef>
                <a:spcPts val="200"/>
              </a:spcBef>
              <a:defRPr sz="1000">
                <a:solidFill>
                  <a:srgbClr val="64748B"/>
                </a:solidFill>
              </a:defRPr>
            </a:pPr>
            <a:r>
              <a:t>Cài đặt Ubuntu 22.04 LTS, cấu hình Apache VirtualHost, MySQL 8.0 và PHP 8.1 tối ưu tài nguyên.</a:t>
            </a:r>
          </a:p>
        </p:txBody>
      </p:sp>
      <p:sp>
        <p:nvSpPr>
          <p:cNvPr id="13" name="Rounded Rectangle 12"/>
          <p:cNvSpPr/>
          <p:nvPr/>
        </p:nvSpPr>
        <p:spPr>
          <a:xfrm>
            <a:off x="731520" y="219456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84080" y="232257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15" name="TextBox 14"/>
          <p:cNvSpPr txBox="1"/>
          <p:nvPr/>
        </p:nvSpPr>
        <p:spPr>
          <a:xfrm>
            <a:off x="914400" y="2267712"/>
            <a:ext cx="8686800" cy="566928"/>
          </a:xfrm>
          <a:prstGeom prst="rect">
            <a:avLst/>
          </a:prstGeom>
          <a:noFill/>
        </p:spPr>
        <p:txBody>
          <a:bodyPr wrap="square">
            <a:spAutoFit/>
          </a:bodyPr>
          <a:lstStyle/>
          <a:p>
            <a:r>
              <a:rPr b="1" sz="1200">
                <a:solidFill>
                  <a:srgbClr val="1E293B"/>
                </a:solidFill>
              </a:rPr>
              <a:t>2. Nền tảng Website Thương mại điện tử  </a:t>
            </a:r>
          </a:p>
          <a:p>
            <a:pPr>
              <a:spcBef>
                <a:spcPts val="200"/>
              </a:spcBef>
              <a:defRPr sz="1000">
                <a:solidFill>
                  <a:srgbClr val="64748B"/>
                </a:solidFill>
              </a:defRPr>
            </a:pPr>
            <a:r>
              <a:t>WordPress 6.8 + WooCommerce 9.8.5 cấu hình hoàn chỉnh đơn vị VNĐ, giỏ hàng, thanh toán COD và chuyển khoản.</a:t>
            </a:r>
          </a:p>
        </p:txBody>
      </p:sp>
      <p:sp>
        <p:nvSpPr>
          <p:cNvPr id="16" name="Rounded Rectangle 15"/>
          <p:cNvSpPr/>
          <p:nvPr/>
        </p:nvSpPr>
        <p:spPr>
          <a:xfrm>
            <a:off x="731520" y="301752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784080" y="314553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18" name="TextBox 17"/>
          <p:cNvSpPr txBox="1"/>
          <p:nvPr/>
        </p:nvSpPr>
        <p:spPr>
          <a:xfrm>
            <a:off x="914400" y="3090672"/>
            <a:ext cx="8686800" cy="566928"/>
          </a:xfrm>
          <a:prstGeom prst="rect">
            <a:avLst/>
          </a:prstGeom>
          <a:noFill/>
        </p:spPr>
        <p:txBody>
          <a:bodyPr wrap="square">
            <a:spAutoFit/>
          </a:bodyPr>
          <a:lstStyle/>
          <a:p>
            <a:r>
              <a:rPr b="1" sz="1200">
                <a:solidFill>
                  <a:srgbClr val="1E293B"/>
                </a:solidFill>
              </a:rPr>
              <a:t>3. Giao diện nhận diện Bách Hóa Xanh  </a:t>
            </a:r>
          </a:p>
          <a:p>
            <a:pPr>
              <a:spcBef>
                <a:spcPts val="200"/>
              </a:spcBef>
              <a:defRPr sz="1000">
                <a:solidFill>
                  <a:srgbClr val="64748B"/>
                </a:solidFill>
              </a:defRPr>
            </a:pPr>
            <a:r>
              <a:t>Thiết kế Header xanh lá, giỏ vàng, Flash Sale đỏ đếm ngược, phân loại ngành hàng trực quan, responsive.</a:t>
            </a:r>
          </a:p>
        </p:txBody>
      </p:sp>
      <p:sp>
        <p:nvSpPr>
          <p:cNvPr id="19" name="Rounded Rectangle 18"/>
          <p:cNvSpPr/>
          <p:nvPr/>
        </p:nvSpPr>
        <p:spPr>
          <a:xfrm>
            <a:off x="731520" y="384048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84080" y="396849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21" name="TextBox 20"/>
          <p:cNvSpPr txBox="1"/>
          <p:nvPr/>
        </p:nvSpPr>
        <p:spPr>
          <a:xfrm>
            <a:off x="914400" y="3913632"/>
            <a:ext cx="8686800" cy="566928"/>
          </a:xfrm>
          <a:prstGeom prst="rect">
            <a:avLst/>
          </a:prstGeom>
          <a:noFill/>
        </p:spPr>
        <p:txBody>
          <a:bodyPr wrap="square">
            <a:spAutoFit/>
          </a:bodyPr>
          <a:lstStyle/>
          <a:p>
            <a:r>
              <a:rPr b="1" sz="1200">
                <a:solidFill>
                  <a:srgbClr val="1E293B"/>
                </a:solidFill>
              </a:rPr>
              <a:t>4. Chuẩn hóa dữ liệu 15 Sản phẩm OCOP  </a:t>
            </a:r>
          </a:p>
          <a:p>
            <a:pPr>
              <a:spcBef>
                <a:spcPts val="200"/>
              </a:spcBef>
              <a:defRPr sz="1000">
                <a:solidFill>
                  <a:srgbClr val="64748B"/>
                </a:solidFill>
              </a:defRPr>
            </a:pPr>
            <a:r>
              <a:t>Thu thập 15 sản phẩm thực phẩm chế biến Bến Tre, hình ảnh tỉ lệ vuông sắc nét, mô tả nguồn gốc làng nghề rõ ràng.</a:t>
            </a:r>
          </a:p>
        </p:txBody>
      </p:sp>
      <p:sp>
        <p:nvSpPr>
          <p:cNvPr id="22" name="Rounded Rectangle 21"/>
          <p:cNvSpPr/>
          <p:nvPr/>
        </p:nvSpPr>
        <p:spPr>
          <a:xfrm>
            <a:off x="731520" y="466344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84080" y="479145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24" name="TextBox 23"/>
          <p:cNvSpPr txBox="1"/>
          <p:nvPr/>
        </p:nvSpPr>
        <p:spPr>
          <a:xfrm>
            <a:off x="914400" y="4736592"/>
            <a:ext cx="8686800" cy="566928"/>
          </a:xfrm>
          <a:prstGeom prst="rect">
            <a:avLst/>
          </a:prstGeom>
          <a:noFill/>
        </p:spPr>
        <p:txBody>
          <a:bodyPr wrap="square">
            <a:spAutoFit/>
          </a:bodyPr>
          <a:lstStyle/>
          <a:p>
            <a:r>
              <a:rPr b="1" sz="1200">
                <a:solidFill>
                  <a:srgbClr val="1E293B"/>
                </a:solidFill>
              </a:rPr>
              <a:t>5. Tự động hóa Sao lưu &amp; Phục hồi  </a:t>
            </a:r>
          </a:p>
          <a:p>
            <a:pPr>
              <a:spcBef>
                <a:spcPts val="200"/>
              </a:spcBef>
              <a:defRPr sz="1000">
                <a:solidFill>
                  <a:srgbClr val="64748B"/>
                </a:solidFill>
              </a:defRPr>
            </a:pPr>
            <a:r>
              <a:t>Viết hoàn chỉnh backup.sh &amp; restore.sh, tích hợp điều khiển Xshell và truyền tệp ngoại vi Xftp, khôi phục &lt; 15 giây.</a:t>
            </a:r>
          </a:p>
        </p:txBody>
      </p:sp>
      <p:sp>
        <p:nvSpPr>
          <p:cNvPr id="25" name="Rounded Rectangle 24"/>
          <p:cNvSpPr/>
          <p:nvPr/>
        </p:nvSpPr>
        <p:spPr>
          <a:xfrm>
            <a:off x="731520" y="5486400"/>
            <a:ext cx="10698480" cy="713232"/>
          </a:xfrm>
          <a:prstGeom prst="roundRect">
            <a:avLst/>
          </a:prstGeom>
          <a:solidFill>
            <a:srgbClr val="FFFFFF"/>
          </a:solidFill>
          <a:ln w="12700">
            <a:solidFill>
              <a:srgbClr val="CBD5E1"/>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84080" y="5614416"/>
            <a:ext cx="1463040" cy="45720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100% ĐẠT</a:t>
            </a:r>
          </a:p>
        </p:txBody>
      </p:sp>
      <p:sp>
        <p:nvSpPr>
          <p:cNvPr id="27" name="TextBox 26"/>
          <p:cNvSpPr txBox="1"/>
          <p:nvPr/>
        </p:nvSpPr>
        <p:spPr>
          <a:xfrm>
            <a:off x="914400" y="5559552"/>
            <a:ext cx="8686800" cy="566928"/>
          </a:xfrm>
          <a:prstGeom prst="rect">
            <a:avLst/>
          </a:prstGeom>
          <a:noFill/>
        </p:spPr>
        <p:txBody>
          <a:bodyPr wrap="square">
            <a:spAutoFit/>
          </a:bodyPr>
          <a:lstStyle/>
          <a:p>
            <a:r>
              <a:rPr b="1" sz="1200">
                <a:solidFill>
                  <a:srgbClr val="1E293B"/>
                </a:solidFill>
              </a:rPr>
              <a:t>6. Hồ sơ tài liệu báo cáo bàn giao  </a:t>
            </a:r>
          </a:p>
          <a:p>
            <a:pPr>
              <a:spcBef>
                <a:spcPts val="200"/>
              </a:spcBef>
              <a:defRPr sz="1000">
                <a:solidFill>
                  <a:srgbClr val="64748B"/>
                </a:solidFill>
              </a:defRPr>
            </a:pPr>
            <a:r>
              <a:t>Hoàn thành Báo cáo Word chuẩn mẫu trường (30+ trang, TOC động) và Slide PowerPoint bảo vệ chuyên nghiệp.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8: HƯỚNG PHÁT TRIỂN</a:t>
            </a:r>
          </a:p>
          <a:p>
            <a:pPr>
              <a:spcBef>
                <a:spcPts val="200"/>
              </a:spcBef>
              <a:defRPr sz="2000" b="1">
                <a:solidFill>
                  <a:srgbClr val="FFFFFF"/>
                </a:solidFill>
              </a:defRPr>
            </a:pPr>
            <a:r>
              <a:t>HƯỚNG PHÁT TRIỂN &amp; KHẢ NĂNG MỞ RỘNG</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18 / 20</a:t>
            </a:r>
          </a:p>
        </p:txBody>
      </p:sp>
      <p:sp>
        <p:nvSpPr>
          <p:cNvPr id="10" name="Rounded Rectangle 9"/>
          <p:cNvSpPr/>
          <p:nvPr/>
        </p:nvSpPr>
        <p:spPr>
          <a:xfrm>
            <a:off x="731520" y="1371600"/>
            <a:ext cx="5257800" cy="2286000"/>
          </a:xfrm>
          <a:prstGeom prst="roundRect">
            <a:avLst/>
          </a:prstGeom>
          <a:solidFill>
            <a:srgbClr val="FFFFFF"/>
          </a:solidFill>
          <a:ln w="19050">
            <a:solidFill>
              <a:srgbClr val="005C30"/>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1508760"/>
            <a:ext cx="4892040" cy="438912"/>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CỔNG THANH TOÁN SỐ TỰ ĐỘNG</a:t>
            </a:r>
          </a:p>
        </p:txBody>
      </p:sp>
      <p:sp>
        <p:nvSpPr>
          <p:cNvPr id="12" name="TextBox 11"/>
          <p:cNvSpPr txBox="1"/>
          <p:nvPr/>
        </p:nvSpPr>
        <p:spPr>
          <a:xfrm>
            <a:off x="960120" y="2029968"/>
            <a:ext cx="4800600" cy="1508760"/>
          </a:xfrm>
          <a:prstGeom prst="rect">
            <a:avLst/>
          </a:prstGeom>
          <a:noFill/>
        </p:spPr>
        <p:txBody>
          <a:bodyPr wrap="square">
            <a:spAutoFit/>
          </a:bodyPr>
          <a:lstStyle/>
          <a:p>
            <a:pPr>
              <a:spcBef>
                <a:spcPts val="600"/>
              </a:spcBef>
              <a:defRPr sz="1050">
                <a:solidFill>
                  <a:srgbClr val="1E293B"/>
                </a:solidFill>
              </a:defRPr>
            </a:pPr>
            <a:r>
              <a:t>•  Tích hợp cổng thanh toán trực tuyến nội địa: MoMo QR, VNPay, ZaloPay và thẻ thanh toán quốc tế Visa/MasterCard.</a:t>
            </a:r>
          </a:p>
          <a:p>
            <a:pPr>
              <a:spcBef>
                <a:spcPts val="600"/>
              </a:spcBef>
              <a:defRPr sz="1050">
                <a:solidFill>
                  <a:srgbClr val="1E293B"/>
                </a:solidFill>
              </a:defRPr>
            </a:pPr>
            <a:r>
              <a:t>•  Tự động xác nhận giao dịch thanh toán thành công qua Webhook IPN, giảm thời gian đối soát thủ công của nhân viên.</a:t>
            </a:r>
          </a:p>
        </p:txBody>
      </p:sp>
      <p:sp>
        <p:nvSpPr>
          <p:cNvPr id="13" name="Rounded Rectangle 12"/>
          <p:cNvSpPr/>
          <p:nvPr/>
        </p:nvSpPr>
        <p:spPr>
          <a:xfrm>
            <a:off x="6172200" y="1371600"/>
            <a:ext cx="5257800" cy="228600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1508760"/>
            <a:ext cx="4892040" cy="438912"/>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CHỨNG CHỈ BẢO MẬT SSL &amp; TÊN MIỀN</a:t>
            </a:r>
          </a:p>
        </p:txBody>
      </p:sp>
      <p:sp>
        <p:nvSpPr>
          <p:cNvPr id="15" name="TextBox 14"/>
          <p:cNvSpPr txBox="1"/>
          <p:nvPr/>
        </p:nvSpPr>
        <p:spPr>
          <a:xfrm>
            <a:off x="6400800" y="2029968"/>
            <a:ext cx="4800600" cy="1508760"/>
          </a:xfrm>
          <a:prstGeom prst="rect">
            <a:avLst/>
          </a:prstGeom>
          <a:noFill/>
        </p:spPr>
        <p:txBody>
          <a:bodyPr wrap="square">
            <a:spAutoFit/>
          </a:bodyPr>
          <a:lstStyle/>
          <a:p>
            <a:pPr>
              <a:spcBef>
                <a:spcPts val="600"/>
              </a:spcBef>
              <a:defRPr sz="1050">
                <a:solidFill>
                  <a:srgbClr val="1E293B"/>
                </a:solidFill>
              </a:defRPr>
            </a:pPr>
            <a:r>
              <a:t>•  Đăng ký tên miền thương hiệu chính thức (ví dụ: dacsanbentree.vn).</a:t>
            </a:r>
          </a:p>
          <a:p>
            <a:pPr>
              <a:spcBef>
                <a:spcPts val="600"/>
              </a:spcBef>
              <a:defRPr sz="1050">
                <a:solidFill>
                  <a:srgbClr val="1E293B"/>
                </a:solidFill>
              </a:defRPr>
            </a:pPr>
            <a:r>
              <a:t>•  Cài đặt chứng chỉ số bảo mật SSL/TLS miễn phí qua Let's Encrypt (HTTPS), mã hóa toàn bộ dữ liệu trao đổi giữa khách hàng và máy chủ.</a:t>
            </a:r>
          </a:p>
        </p:txBody>
      </p:sp>
      <p:sp>
        <p:nvSpPr>
          <p:cNvPr id="16" name="Rounded Rectangle 15"/>
          <p:cNvSpPr/>
          <p:nvPr/>
        </p:nvSpPr>
        <p:spPr>
          <a:xfrm>
            <a:off x="731520" y="3794760"/>
            <a:ext cx="5257800" cy="2286000"/>
          </a:xfrm>
          <a:prstGeom prst="roundRect">
            <a:avLst/>
          </a:prstGeom>
          <a:solidFill>
            <a:srgbClr val="FFFFFF"/>
          </a:solidFill>
          <a:ln w="19050">
            <a:solidFill>
              <a:srgbClr val="FCD53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3931920"/>
            <a:ext cx="4892040" cy="438912"/>
          </a:xfrm>
          <a:prstGeom prst="round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defRPr>
            </a:pPr>
            <a:r>
              <a:t>ỨNG DỤNG DI ĐỘNG (MOBILE APP)</a:t>
            </a:r>
          </a:p>
        </p:txBody>
      </p:sp>
      <p:sp>
        <p:nvSpPr>
          <p:cNvPr id="18" name="TextBox 17"/>
          <p:cNvSpPr txBox="1"/>
          <p:nvPr/>
        </p:nvSpPr>
        <p:spPr>
          <a:xfrm>
            <a:off x="960120" y="4453128"/>
            <a:ext cx="4800600" cy="1508760"/>
          </a:xfrm>
          <a:prstGeom prst="rect">
            <a:avLst/>
          </a:prstGeom>
          <a:noFill/>
        </p:spPr>
        <p:txBody>
          <a:bodyPr wrap="square">
            <a:spAutoFit/>
          </a:bodyPr>
          <a:lstStyle/>
          <a:p>
            <a:pPr>
              <a:spcBef>
                <a:spcPts val="600"/>
              </a:spcBef>
              <a:defRPr sz="1050">
                <a:solidFill>
                  <a:srgbClr val="1E293B"/>
                </a:solidFill>
              </a:defRPr>
            </a:pPr>
            <a:r>
              <a:t>•  Xây dựng ứng dụng di động cho iOS và Android sử dụng framework Flutter hoặc React Native.</a:t>
            </a:r>
          </a:p>
          <a:p>
            <a:pPr>
              <a:spcBef>
                <a:spcPts val="600"/>
              </a:spcBef>
              <a:defRPr sz="1050">
                <a:solidFill>
                  <a:srgbClr val="1E293B"/>
                </a:solidFill>
              </a:defRPr>
            </a:pPr>
            <a:r>
              <a:t>•  Kết nối đồng bộ dữ liệu thời gian thực với website WordPress thông qua giao thức chuẩn WooCommerce REST API v3.</a:t>
            </a:r>
          </a:p>
        </p:txBody>
      </p:sp>
      <p:sp>
        <p:nvSpPr>
          <p:cNvPr id="19" name="Rounded Rectangle 18"/>
          <p:cNvSpPr/>
          <p:nvPr/>
        </p:nvSpPr>
        <p:spPr>
          <a:xfrm>
            <a:off x="6172200" y="3794760"/>
            <a:ext cx="5257800" cy="2286000"/>
          </a:xfrm>
          <a:prstGeom prst="roundRect">
            <a:avLst/>
          </a:prstGeom>
          <a:solidFill>
            <a:srgbClr val="FFFFFF"/>
          </a:solidFill>
          <a:ln w="19050">
            <a:solidFill>
              <a:srgbClr val="EA1E2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3931920"/>
            <a:ext cx="4892040" cy="438912"/>
          </a:xfrm>
          <a:prstGeom prst="roundRect">
            <a:avLst/>
          </a:prstGeom>
          <a:solidFill>
            <a:srgbClr val="EA1E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ĐÓNG GÓI DOCKER &amp; TRIỂN KHAI CLOUD</a:t>
            </a:r>
          </a:p>
        </p:txBody>
      </p:sp>
      <p:sp>
        <p:nvSpPr>
          <p:cNvPr id="21" name="TextBox 20"/>
          <p:cNvSpPr txBox="1"/>
          <p:nvPr/>
        </p:nvSpPr>
        <p:spPr>
          <a:xfrm>
            <a:off x="6400800" y="4453128"/>
            <a:ext cx="4800600" cy="1508760"/>
          </a:xfrm>
          <a:prstGeom prst="rect">
            <a:avLst/>
          </a:prstGeom>
          <a:noFill/>
        </p:spPr>
        <p:txBody>
          <a:bodyPr wrap="square">
            <a:spAutoFit/>
          </a:bodyPr>
          <a:lstStyle/>
          <a:p>
            <a:pPr>
              <a:spcBef>
                <a:spcPts val="600"/>
              </a:spcBef>
              <a:defRPr sz="1050">
                <a:solidFill>
                  <a:srgbClr val="1E293B"/>
                </a:solidFill>
              </a:defRPr>
            </a:pPr>
            <a:r>
              <a:t>•  Đóng gói toàn bộ hệ thống LAMP vào các Docker Container (Containerization) bằng Docker Compose.</a:t>
            </a:r>
          </a:p>
          <a:p>
            <a:pPr>
              <a:spcBef>
                <a:spcPts val="600"/>
              </a:spcBef>
              <a:defRPr sz="1050">
                <a:solidFill>
                  <a:srgbClr val="1E293B"/>
                </a:solidFill>
              </a:defRPr>
            </a:pPr>
            <a:r>
              <a:t>•  Dễ dàng triển khai và nhân rộng (scale) lên các hạ tầng điện toán đám mây như AWS, DigitalOcean hoặc Google Cloud Platform.</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64008"/>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
            <a:ext cx="9144000" cy="841248"/>
          </a:xfrm>
          <a:prstGeom prst="rect">
            <a:avLst/>
          </a:prstGeom>
          <a:noFill/>
        </p:spPr>
        <p:txBody>
          <a:bodyPr wrap="square" lIns="0" tIns="0" rIns="0" bIns="0">
            <a:spAutoFit/>
          </a:bodyPr>
          <a:lstStyle/>
          <a:p>
            <a:pPr>
              <a:defRPr sz="1050" b="1">
                <a:solidFill>
                  <a:srgbClr val="FCD535"/>
                </a:solidFill>
              </a:defRPr>
            </a:pPr>
            <a:r>
              <a:t>PHẦN 9: KẾT LUẬN</a:t>
            </a:r>
          </a:p>
          <a:p>
            <a:pPr>
              <a:spcBef>
                <a:spcPts val="200"/>
              </a:spcBef>
              <a:defRPr sz="2000" b="1">
                <a:solidFill>
                  <a:srgbClr val="FFFFFF"/>
                </a:solidFill>
              </a:defRPr>
            </a:pPr>
            <a:r>
              <a:t>KẾT LUẬN &amp; Ý NGHĨA THỰC TIỄN CỦA ĐỒ ÁN</a:t>
            </a:r>
          </a:p>
        </p:txBody>
      </p:sp>
      <p:sp>
        <p:nvSpPr>
          <p:cNvPr id="6" name="Rounded Rectangle 5"/>
          <p:cNvSpPr/>
          <p:nvPr/>
        </p:nvSpPr>
        <p:spPr>
          <a:xfrm>
            <a:off x="9875520" y="320040"/>
            <a:ext cx="1828800" cy="411480"/>
          </a:xfrm>
          <a:prstGeom prst="roundRect">
            <a:avLst/>
          </a:prstGeom>
          <a:solidFill>
            <a:srgbClr val="008848"/>
          </a:solidFill>
          <a:ln w="19050">
            <a:solidFill>
              <a:srgbClr val="FCD535"/>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defRPr>
            </a:pPr>
            <a:r>
              <a:t>BÁO CÁO ĐỒ ÁN 2026</a:t>
            </a:r>
          </a:p>
        </p:txBody>
      </p:sp>
      <p:sp>
        <p:nvSpPr>
          <p:cNvPr id="7" name="Rectangle 6"/>
          <p:cNvSpPr/>
          <p:nvPr/>
        </p:nvSpPr>
        <p:spPr>
          <a:xfrm>
            <a:off x="640080" y="6446520"/>
            <a:ext cx="1091153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92240"/>
            <a:ext cx="7315200" cy="274320"/>
          </a:xfrm>
          <a:prstGeom prst="rect">
            <a:avLst/>
          </a:prstGeom>
          <a:noFill/>
        </p:spPr>
        <p:txBody>
          <a:bodyPr wrap="none" lIns="0" tIns="0" rIns="0" bIns="0">
            <a:spAutoFit/>
          </a:bodyPr>
          <a:lstStyle/>
          <a:p>
            <a:pPr>
              <a:defRPr sz="950">
                <a:solidFill>
                  <a:srgbClr val="64748B"/>
                </a:solidFill>
              </a:defRPr>
            </a:pPr>
            <a:r>
              <a:t>Đồ án: Website TMĐT Đặc Sản Bến Tre (Mô hình Bách Hóa Xanh &amp; Sao lưu Xshell, Xftp) | SV: Thạch An Trường</a:t>
            </a:r>
          </a:p>
        </p:txBody>
      </p:sp>
      <p:sp>
        <p:nvSpPr>
          <p:cNvPr id="9" name="TextBox 8"/>
          <p:cNvSpPr txBox="1"/>
          <p:nvPr/>
        </p:nvSpPr>
        <p:spPr>
          <a:xfrm>
            <a:off x="9601200" y="6492240"/>
            <a:ext cx="1950415" cy="274320"/>
          </a:xfrm>
          <a:prstGeom prst="rect">
            <a:avLst/>
          </a:prstGeom>
          <a:noFill/>
        </p:spPr>
        <p:txBody>
          <a:bodyPr wrap="none" lIns="0" tIns="0" rIns="0" bIns="0">
            <a:spAutoFit/>
          </a:bodyPr>
          <a:lstStyle/>
          <a:p>
            <a:pPr algn="r">
              <a:defRPr sz="950" b="1">
                <a:solidFill>
                  <a:srgbClr val="008848"/>
                </a:solidFill>
              </a:defRPr>
            </a:pPr>
            <a:r>
              <a:t>Trang 19 / 20</a:t>
            </a:r>
          </a:p>
        </p:txBody>
      </p:sp>
      <p:sp>
        <p:nvSpPr>
          <p:cNvPr id="10" name="Rounded Rectangle 9"/>
          <p:cNvSpPr/>
          <p:nvPr/>
        </p:nvSpPr>
        <p:spPr>
          <a:xfrm>
            <a:off x="731520" y="1371600"/>
            <a:ext cx="5257800" cy="4754880"/>
          </a:xfrm>
          <a:prstGeom prst="roundRect">
            <a:avLst/>
          </a:prstGeom>
          <a:solidFill>
            <a:srgbClr val="FFFFFF"/>
          </a:solidFill>
          <a:ln w="19050">
            <a:solidFill>
              <a:srgbClr val="005C30"/>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1645920"/>
            <a:ext cx="4709160" cy="594360"/>
          </a:xfrm>
          <a:prstGeom prst="round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VỀ MẶT KỸ THUẬT &amp; CÔNG NGHỆ</a:t>
            </a:r>
          </a:p>
        </p:txBody>
      </p:sp>
      <p:sp>
        <p:nvSpPr>
          <p:cNvPr id="12" name="TextBox 11"/>
          <p:cNvSpPr txBox="1"/>
          <p:nvPr/>
        </p:nvSpPr>
        <p:spPr>
          <a:xfrm>
            <a:off x="1051560" y="2423160"/>
            <a:ext cx="4617720" cy="3474720"/>
          </a:xfrm>
          <a:prstGeom prst="rect">
            <a:avLst/>
          </a:prstGeom>
          <a:noFill/>
        </p:spPr>
        <p:txBody>
          <a:bodyPr wrap="square">
            <a:spAutoFit/>
          </a:bodyPr>
          <a:lstStyle/>
          <a:p>
            <a:pPr>
              <a:spcBef>
                <a:spcPts val="1200"/>
              </a:spcBef>
              <a:defRPr sz="1150">
                <a:solidFill>
                  <a:srgbClr val="1E293B"/>
                </a:solidFill>
              </a:defRPr>
            </a:pPr>
            <a:r>
              <a:t>★  Chứng minh tính ưu việt của phần mềm mã nguồn mở: Tiết kiệm 100% chi phí bản quyền nhưng vẫn đảm bảo tính năng thương mại mạnh mẽ, độ ổn định cao và khả năng chịu tải tốt.</a:t>
            </a:r>
          </a:p>
          <a:p>
            <a:pPr>
              <a:spcBef>
                <a:spcPts val="1200"/>
              </a:spcBef>
              <a:defRPr sz="1150">
                <a:solidFill>
                  <a:srgbClr val="1E293B"/>
                </a:solidFill>
              </a:defRPr>
            </a:pPr>
            <a:r>
              <a:t>★  Làm chủ quy trình quản trị máy chủ Linux chuyên nghiệp từ xa qua kết nối SSH dòng lệnh bảo mật.</a:t>
            </a:r>
          </a:p>
          <a:p>
            <a:pPr>
              <a:spcBef>
                <a:spcPts val="1200"/>
              </a:spcBef>
              <a:defRPr sz="1150">
                <a:solidFill>
                  <a:srgbClr val="1E293B"/>
                </a:solidFill>
              </a:defRPr>
            </a:pPr>
            <a:r>
              <a:t>★  Xây dựng thành công cơ chế sao lưu tự động và phục hồi thảm họa dữ liệu, đảm bảo tính sẵn sàng cao (High Availability) cho hệ thống.</a:t>
            </a:r>
          </a:p>
        </p:txBody>
      </p:sp>
      <p:sp>
        <p:nvSpPr>
          <p:cNvPr id="13" name="Rounded Rectangle 12"/>
          <p:cNvSpPr/>
          <p:nvPr/>
        </p:nvSpPr>
        <p:spPr>
          <a:xfrm>
            <a:off x="6172200" y="1371600"/>
            <a:ext cx="5257800" cy="4754880"/>
          </a:xfrm>
          <a:prstGeom prst="roundRect">
            <a:avLst/>
          </a:prstGeom>
          <a:solidFill>
            <a:srgbClr val="FFFFFF"/>
          </a:solidFill>
          <a:ln w="19050">
            <a:solidFill>
              <a:srgbClr val="008848"/>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46520" y="1645920"/>
            <a:ext cx="4709160" cy="594360"/>
          </a:xfrm>
          <a:prstGeom prst="roundRect">
            <a:avLst/>
          </a:prstGeom>
          <a:solidFill>
            <a:srgbClr val="008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VỀ MẶT KINH TẾ &amp; XÃ HỘI</a:t>
            </a:r>
          </a:p>
        </p:txBody>
      </p:sp>
      <p:sp>
        <p:nvSpPr>
          <p:cNvPr id="15" name="TextBox 14"/>
          <p:cNvSpPr txBox="1"/>
          <p:nvPr/>
        </p:nvSpPr>
        <p:spPr>
          <a:xfrm>
            <a:off x="6492240" y="2423160"/>
            <a:ext cx="4617720" cy="3474720"/>
          </a:xfrm>
          <a:prstGeom prst="rect">
            <a:avLst/>
          </a:prstGeom>
          <a:noFill/>
        </p:spPr>
        <p:txBody>
          <a:bodyPr wrap="square">
            <a:spAutoFit/>
          </a:bodyPr>
          <a:lstStyle/>
          <a:p>
            <a:pPr>
              <a:spcBef>
                <a:spcPts val="1200"/>
              </a:spcBef>
              <a:defRPr sz="1150">
                <a:solidFill>
                  <a:srgbClr val="1E293B"/>
                </a:solidFill>
              </a:defRPr>
            </a:pPr>
            <a:r>
              <a:t>★  Góp phần thúc đẩy chuyển đổi số nông nghiệp: Đưa các sản phẩm OCOP và đặc sản làng nghề truyền thống Bến Tre tiếp cận rộng rãi tới khách hàng toàn quốc.</a:t>
            </a:r>
          </a:p>
          <a:p>
            <a:pPr>
              <a:spcBef>
                <a:spcPts val="1200"/>
              </a:spcBef>
              <a:defRPr sz="1150">
                <a:solidFill>
                  <a:srgbClr val="1E293B"/>
                </a:solidFill>
              </a:defRPr>
            </a:pPr>
            <a:r>
              <a:t>★  Mô hình thiết kế Bách Hóa Xanh giúp khách hàng ở mọi lứa tuổi đều có thể dễ dàng đặt mua nông sản sạch chỉ với vài thao tác đơn giản.</a:t>
            </a:r>
          </a:p>
          <a:p>
            <a:pPr>
              <a:spcBef>
                <a:spcPts val="1200"/>
              </a:spcBef>
              <a:defRPr sz="1150">
                <a:solidFill>
                  <a:srgbClr val="1E293B"/>
                </a:solidFill>
              </a:defRPr>
            </a:pPr>
            <a:r>
              <a:t>★  Trang bị cho sinh viên kiến thức thực tế toàn diện từ hạ tầng hệ thống mạng, bảo mật CSDL đến xây dựng giải pháp phần mềm TMĐT hoàn chỉnh.</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91695" cy="137160"/>
          </a:xfrm>
          <a:prstGeom prst="rect">
            <a:avLst/>
          </a:prstGeom>
          <a:solidFill>
            <a:srgbClr val="FCD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914400"/>
            <a:ext cx="8899855" cy="4937760"/>
          </a:xfrm>
          <a:prstGeom prst="roundRect">
            <a:avLst/>
          </a:prstGeom>
          <a:solidFill>
            <a:srgbClr val="FFFFFF"/>
          </a:solidFill>
          <a:ln w="31750">
            <a:solidFill>
              <a:srgbClr val="FCD535"/>
            </a:solidFill>
          </a:ln>
          <a:effectLst>
            <a:outerShdw blurRad="180000" dist="45000" dir="5400000" algn="b" rotWithShape="0">
              <a:srgbClr val="000000">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0" y="1188720"/>
            <a:ext cx="8168335" cy="4389120"/>
          </a:xfrm>
          <a:prstGeom prst="rect">
            <a:avLst/>
          </a:prstGeom>
          <a:noFill/>
        </p:spPr>
        <p:txBody>
          <a:bodyPr wrap="square">
            <a:spAutoFit/>
          </a:bodyPr>
          <a:lstStyle/>
          <a:p>
            <a:pPr algn="ctr">
              <a:defRPr sz="2800" b="1">
                <a:solidFill>
                  <a:srgbClr val="005C30"/>
                </a:solidFill>
              </a:defRPr>
            </a:pPr>
            <a:r>
              <a:t>XIN CHÂN THÀNH CẢM ƠN!</a:t>
            </a:r>
          </a:p>
          <a:p>
            <a:pPr algn="ctr">
              <a:spcBef>
                <a:spcPts val="600"/>
              </a:spcBef>
              <a:defRPr sz="1600" b="1">
                <a:solidFill>
                  <a:srgbClr val="1E293B"/>
                </a:solidFill>
              </a:defRPr>
            </a:pPr>
            <a:r>
              <a:t>QUÝ THẦY CÔ VÀ HỘI ĐỒNG ĐÃ LẮNG NGHE BÀI BÁO CÁO</a:t>
            </a:r>
          </a:p>
          <a:p>
            <a:pPr algn="ctr">
              <a:spcBef>
                <a:spcPts val="400"/>
              </a:spcBef>
              <a:defRPr sz="1300" i="1">
                <a:solidFill>
                  <a:srgbClr val="64748B"/>
                </a:solidFill>
              </a:defRPr>
            </a:pPr>
            <a:r>
              <a:t>KÍNH CHÚC QUÝ THẦY CÔ NHIỀU SỨC KHỎE VÀ THÀNH CÔNG</a:t>
            </a:r>
          </a:p>
          <a:p>
            <a:pPr algn="ctr">
              <a:defRPr sz="1000">
                <a:solidFill>
                  <a:srgbClr val="CBD5E1"/>
                </a:solidFill>
              </a:defRPr>
            </a:pPr>
            <a:r>
              <a:t>_____________________________________________________________________</a:t>
            </a:r>
          </a:p>
          <a:p>
            <a:pPr algn="ctr">
              <a:spcBef>
                <a:spcPts val="1200"/>
              </a:spcBef>
              <a:defRPr sz="1500" b="1">
                <a:solidFill>
                  <a:srgbClr val="EA1E25"/>
                </a:solidFill>
              </a:defRPr>
            </a:pPr>
            <a:r>
              <a:t>KÍNH MỜI QUÝ THẦY CÔ ĐẶT CÂU HỎI VÀ ĐÓNG GÓP Ý KIẾN (Q&amp;A)</a:t>
            </a:r>
          </a:p>
          <a:p>
            <a:pPr algn="ctr">
              <a:spcBef>
                <a:spcPts val="1400"/>
              </a:spcBef>
              <a:defRPr sz="1100" b="1">
                <a:solidFill>
                  <a:srgbClr val="008848"/>
                </a:solidFill>
              </a:defRPr>
            </a:pPr>
            <a:r>
              <a:t>Website Thử Nghiệm: http://localhost:8080/thucpham/  •  SSH Quản Trị: 127.0.0.1:2222</a:t>
            </a:r>
            <a:br/>
            <a:r>
              <a:t>Sinh viên: THẠCH AN TRƯỜNG  •  MSSV: 170123678  •  SĐT: 0329886903  •  ĐH Trà Vinh</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